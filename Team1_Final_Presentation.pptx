
<file path=[Content_Types].xml><?xml version="1.0" encoding="utf-8"?>
<Types xmlns="http://schemas.openxmlformats.org/package/2006/content-types">
  <Default Extension="fntdata" ContentType="application/x-fontdata"/>
  <Default Extension="jpeg" ContentType="image/jpeg"/>
  <Default Extension="rels" ContentType="application/vnd.openxmlformats-package.relationships+xml"/>
  <Default Extension="svg" ContentType="image/svg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embedTrueTypeFonts="1" saveSubsetFonts="1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</p:sldIdLst>
  <p:sldSz cx="18288000" cy="10287000"/>
  <p:notesSz cx="6858000" cy="9144000"/>
  <p:embeddedFontLst>
    <p:embeddedFont>
      <p:font typeface="Bobby Jones Soft" panose="020B0604020202020204" charset="0"/>
      <p:regular r:id="rId13"/>
    </p:embeddedFont>
    <p:embeddedFont>
      <p:font typeface="Glacial Indifference" panose="020B0604020202020204" charset="0"/>
      <p:regular r:id="rId14"/>
    </p:embeddedFont>
    <p:embeddedFont>
      <p:font typeface="Glacial Indifference Bold" panose="020B0604020202020204" charset="0"/>
      <p:regular r:id="rId15"/>
    </p:embeddedFont>
  </p:embeddedFontLst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 autoAdjust="0"/>
    <p:restoredTop sz="94622" autoAdjust="0"/>
  </p:normalViewPr>
  <p:slideViewPr>
    <p:cSldViewPr>
      <p:cViewPr>
        <p:scale>
          <a:sx n="50" d="100"/>
          <a:sy n="50" d="100"/>
        </p:scale>
        <p:origin x="300" y="1096"/>
      </p:cViewPr>
      <p:guideLst>
        <p:guide orient="horz" pos="2160"/>
        <p:guide pos="2880"/>
      </p:guideLst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font" Target="fonts/font1.fntdata"/><Relationship Id="rId18" Type="http://schemas.openxmlformats.org/officeDocument/2006/relationships/theme" Target="theme/theme1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viewProps" Target="viewProps.xml"/><Relationship Id="rId2" Type="http://schemas.openxmlformats.org/officeDocument/2006/relationships/slide" Target="slides/slide1.xml"/><Relationship Id="rId16" Type="http://schemas.openxmlformats.org/officeDocument/2006/relationships/presProps" Target="pres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font" Target="fonts/font3.fntdata"/><Relationship Id="rId10" Type="http://schemas.openxmlformats.org/officeDocument/2006/relationships/slide" Target="slides/slide9.xml"/><Relationship Id="rId19" Type="http://schemas.openxmlformats.org/officeDocument/2006/relationships/tableStyles" Target="tableStyle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font" Target="fonts/font2.fntdata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8/28/2026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8/28/2026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8/28/2026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8/28/2026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8/28/2026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8/28/2026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8/28/2026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8/28/2026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8/28/2026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8/28/2026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8/28/2026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 smtClean="0"/>
              <a:pPr/>
              <a:t>8/28/2026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svg"/><Relationship Id="rId2" Type="http://schemas.openxmlformats.org/officeDocument/2006/relationships/image" Target="../media/image1.svg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5.svg"/><Relationship Id="rId5" Type="http://schemas.openxmlformats.org/officeDocument/2006/relationships/image" Target="../media/image4.svg"/><Relationship Id="rId4" Type="http://schemas.openxmlformats.org/officeDocument/2006/relationships/image" Target="../media/image3.svg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svg"/><Relationship Id="rId2" Type="http://schemas.openxmlformats.org/officeDocument/2006/relationships/image" Target="../media/image1.svg"/><Relationship Id="rId1" Type="http://schemas.openxmlformats.org/officeDocument/2006/relationships/slideLayout" Target="../slideLayouts/slideLayout7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svg"/><Relationship Id="rId1" Type="http://schemas.openxmlformats.org/officeDocument/2006/relationships/slideLayout" Target="../slideLayouts/slideLayout7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svg"/><Relationship Id="rId2" Type="http://schemas.openxmlformats.org/officeDocument/2006/relationships/image" Target="../media/image1.svg"/><Relationship Id="rId1" Type="http://schemas.openxmlformats.org/officeDocument/2006/relationships/slideLayout" Target="../slideLayouts/slideLayout7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svg"/><Relationship Id="rId2" Type="http://schemas.openxmlformats.org/officeDocument/2006/relationships/image" Target="../media/image1.svg"/><Relationship Id="rId1" Type="http://schemas.openxmlformats.org/officeDocument/2006/relationships/slideLayout" Target="../slideLayouts/slideLayout7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svg"/><Relationship Id="rId2" Type="http://schemas.openxmlformats.org/officeDocument/2006/relationships/image" Target="../media/image1.svg"/><Relationship Id="rId1" Type="http://schemas.openxmlformats.org/officeDocument/2006/relationships/slideLayout" Target="../slideLayouts/slideLayout7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svg"/><Relationship Id="rId2" Type="http://schemas.openxmlformats.org/officeDocument/2006/relationships/image" Target="../media/image1.svg"/><Relationship Id="rId1" Type="http://schemas.openxmlformats.org/officeDocument/2006/relationships/slideLayout" Target="../slideLayouts/slideLayout7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svg"/><Relationship Id="rId2" Type="http://schemas.openxmlformats.org/officeDocument/2006/relationships/image" Target="../media/image1.svg"/><Relationship Id="rId1" Type="http://schemas.openxmlformats.org/officeDocument/2006/relationships/slideLayout" Target="../slideLayouts/slideLayout7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svg"/><Relationship Id="rId2" Type="http://schemas.openxmlformats.org/officeDocument/2006/relationships/image" Target="../media/image1.svg"/><Relationship Id="rId1" Type="http://schemas.openxmlformats.org/officeDocument/2006/relationships/slideLayout" Target="../slideLayouts/slideLayout7.xml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svg"/><Relationship Id="rId2" Type="http://schemas.openxmlformats.org/officeDocument/2006/relationships/image" Target="../media/image1.svg"/><Relationship Id="rId1" Type="http://schemas.openxmlformats.org/officeDocument/2006/relationships/slideLayout" Target="../slideLayouts/slideLayout7.xml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svg"/><Relationship Id="rId2" Type="http://schemas.openxmlformats.org/officeDocument/2006/relationships/image" Target="../media/image1.svg"/><Relationship Id="rId1" Type="http://schemas.openxmlformats.org/officeDocument/2006/relationships/slideLayout" Target="../slideLayouts/slideLayout7.xml"/><Relationship Id="rId5" Type="http://schemas.openxmlformats.org/officeDocument/2006/relationships/image" Target="../media/image4.svg"/><Relationship Id="rId4" Type="http://schemas.openxmlformats.org/officeDocument/2006/relationships/hyperlink" Target="https://drive.google.com/file/d/1KT0PFxdLPlLKBa2sRnK_ZNCtgHeX_fSn/view?usp=drive_link" TargetMode="Externa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eeform 2"/>
          <p:cNvSpPr/>
          <p:nvPr/>
        </p:nvSpPr>
        <p:spPr>
          <a:xfrm rot="8546704">
            <a:off x="-3222686" y="-3008668"/>
            <a:ext cx="8198198" cy="5605518"/>
          </a:xfrm>
          <a:custGeom>
            <a:avLst/>
            <a:gdLst/>
            <a:ahLst/>
            <a:cxnLst/>
            <a:rect l="l" t="t" r="r" b="b"/>
            <a:pathLst>
              <a:path w="8198198" h="5605518">
                <a:moveTo>
                  <a:pt x="0" y="0"/>
                </a:moveTo>
                <a:lnTo>
                  <a:pt x="8198198" y="0"/>
                </a:lnTo>
                <a:lnTo>
                  <a:pt x="8198198" y="5605518"/>
                </a:lnTo>
                <a:lnTo>
                  <a:pt x="0" y="5605518"/>
                </a:lnTo>
                <a:lnTo>
                  <a:pt x="0" y="0"/>
                </a:lnTo>
                <a:close/>
              </a:path>
            </a:pathLst>
          </a:custGeom>
          <a:blipFill>
            <a:blip>
              <a:extLst>
                <a:ext uri="{96DAC541-7B7A-43D3-8B79-37D633B846F1}">
                  <asvg:svgBlip xmlns:asvg="http://schemas.microsoft.com/office/drawing/2016/SVG/main" r:embed="rId2"/>
                </a:ext>
              </a:extLst>
            </a:blip>
            <a:stretch>
              <a:fillRect/>
            </a:stretch>
          </a:blipFill>
        </p:spPr>
      </p:sp>
      <p:sp>
        <p:nvSpPr>
          <p:cNvPr id="3" name="Freeform 3"/>
          <p:cNvSpPr/>
          <p:nvPr/>
        </p:nvSpPr>
        <p:spPr>
          <a:xfrm rot="8720661">
            <a:off x="13113109" y="6576854"/>
            <a:ext cx="9579213" cy="6549787"/>
          </a:xfrm>
          <a:custGeom>
            <a:avLst/>
            <a:gdLst/>
            <a:ahLst/>
            <a:cxnLst/>
            <a:rect l="l" t="t" r="r" b="b"/>
            <a:pathLst>
              <a:path w="9579213" h="6549787">
                <a:moveTo>
                  <a:pt x="0" y="0"/>
                </a:moveTo>
                <a:lnTo>
                  <a:pt x="9579213" y="0"/>
                </a:lnTo>
                <a:lnTo>
                  <a:pt x="9579213" y="6549787"/>
                </a:lnTo>
                <a:lnTo>
                  <a:pt x="0" y="6549787"/>
                </a:lnTo>
                <a:lnTo>
                  <a:pt x="0" y="0"/>
                </a:lnTo>
                <a:close/>
              </a:path>
            </a:pathLst>
          </a:custGeom>
          <a:blipFill>
            <a:blip>
              <a:extLst>
                <a:ext uri="{96DAC541-7B7A-43D3-8B79-37D633B846F1}">
                  <asvg:svgBlip xmlns:asvg="http://schemas.microsoft.com/office/drawing/2016/SVG/main" r:embed="rId2"/>
                </a:ext>
              </a:extLst>
            </a:blip>
            <a:stretch>
              <a:fillRect/>
            </a:stretch>
          </a:blipFill>
        </p:spPr>
      </p:sp>
      <p:sp>
        <p:nvSpPr>
          <p:cNvPr id="4" name="Freeform 4"/>
          <p:cNvSpPr/>
          <p:nvPr/>
        </p:nvSpPr>
        <p:spPr>
          <a:xfrm>
            <a:off x="694453" y="5970606"/>
            <a:ext cx="2379322" cy="1942122"/>
          </a:xfrm>
          <a:custGeom>
            <a:avLst/>
            <a:gdLst/>
            <a:ahLst/>
            <a:cxnLst/>
            <a:rect l="l" t="t" r="r" b="b"/>
            <a:pathLst>
              <a:path w="2379322" h="1942122">
                <a:moveTo>
                  <a:pt x="0" y="0"/>
                </a:moveTo>
                <a:lnTo>
                  <a:pt x="2379322" y="0"/>
                </a:lnTo>
                <a:lnTo>
                  <a:pt x="2379322" y="1942122"/>
                </a:lnTo>
                <a:lnTo>
                  <a:pt x="0" y="1942122"/>
                </a:lnTo>
                <a:lnTo>
                  <a:pt x="0" y="0"/>
                </a:lnTo>
                <a:close/>
              </a:path>
            </a:pathLst>
          </a:custGeom>
          <a:blipFill>
            <a:blip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a:blipFill>
        </p:spPr>
      </p:sp>
      <p:sp>
        <p:nvSpPr>
          <p:cNvPr id="5" name="Freeform 5"/>
          <p:cNvSpPr/>
          <p:nvPr/>
        </p:nvSpPr>
        <p:spPr>
          <a:xfrm>
            <a:off x="694453" y="3522073"/>
            <a:ext cx="1612730" cy="1984898"/>
          </a:xfrm>
          <a:custGeom>
            <a:avLst/>
            <a:gdLst/>
            <a:ahLst/>
            <a:cxnLst/>
            <a:rect l="l" t="t" r="r" b="b"/>
            <a:pathLst>
              <a:path w="1612730" h="1984898">
                <a:moveTo>
                  <a:pt x="0" y="0"/>
                </a:moveTo>
                <a:lnTo>
                  <a:pt x="1612729" y="0"/>
                </a:lnTo>
                <a:lnTo>
                  <a:pt x="1612729" y="1984898"/>
                </a:lnTo>
                <a:lnTo>
                  <a:pt x="0" y="1984898"/>
                </a:lnTo>
                <a:lnTo>
                  <a:pt x="0" y="0"/>
                </a:lnTo>
                <a:close/>
              </a:path>
            </a:pathLst>
          </a:custGeom>
          <a:blipFill>
            <a:blip>
              <a:extLst>
                <a:ext uri="{96DAC541-7B7A-43D3-8B79-37D633B846F1}">
                  <asvg:svgBlip xmlns:asvg="http://schemas.microsoft.com/office/drawing/2016/SVG/main" r:embed="rId4"/>
                </a:ext>
              </a:extLst>
            </a:blip>
            <a:stretch>
              <a:fillRect/>
            </a:stretch>
          </a:blipFill>
        </p:spPr>
      </p:sp>
      <p:sp>
        <p:nvSpPr>
          <p:cNvPr id="6" name="Freeform 6"/>
          <p:cNvSpPr/>
          <p:nvPr/>
        </p:nvSpPr>
        <p:spPr>
          <a:xfrm>
            <a:off x="15203298" y="6589753"/>
            <a:ext cx="1811023" cy="1811023"/>
          </a:xfrm>
          <a:custGeom>
            <a:avLst/>
            <a:gdLst/>
            <a:ahLst/>
            <a:cxnLst/>
            <a:rect l="l" t="t" r="r" b="b"/>
            <a:pathLst>
              <a:path w="1811023" h="1811023">
                <a:moveTo>
                  <a:pt x="0" y="0"/>
                </a:moveTo>
                <a:lnTo>
                  <a:pt x="1811023" y="0"/>
                </a:lnTo>
                <a:lnTo>
                  <a:pt x="1811023" y="1811023"/>
                </a:lnTo>
                <a:lnTo>
                  <a:pt x="0" y="1811023"/>
                </a:lnTo>
                <a:lnTo>
                  <a:pt x="0" y="0"/>
                </a:lnTo>
                <a:close/>
              </a:path>
            </a:pathLst>
          </a:custGeom>
          <a:blipFill>
            <a:blip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/>
            </a:stretch>
          </a:blipFill>
        </p:spPr>
      </p:sp>
      <p:sp>
        <p:nvSpPr>
          <p:cNvPr id="7" name="Freeform 7"/>
          <p:cNvSpPr/>
          <p:nvPr/>
        </p:nvSpPr>
        <p:spPr>
          <a:xfrm>
            <a:off x="15389402" y="4117069"/>
            <a:ext cx="1869898" cy="1853537"/>
          </a:xfrm>
          <a:custGeom>
            <a:avLst/>
            <a:gdLst/>
            <a:ahLst/>
            <a:cxnLst/>
            <a:rect l="l" t="t" r="r" b="b"/>
            <a:pathLst>
              <a:path w="1869898" h="1853537">
                <a:moveTo>
                  <a:pt x="0" y="0"/>
                </a:moveTo>
                <a:lnTo>
                  <a:pt x="1869898" y="0"/>
                </a:lnTo>
                <a:lnTo>
                  <a:pt x="1869898" y="1853537"/>
                </a:lnTo>
                <a:lnTo>
                  <a:pt x="0" y="1853537"/>
                </a:lnTo>
                <a:lnTo>
                  <a:pt x="0" y="0"/>
                </a:lnTo>
                <a:close/>
              </a:path>
            </a:pathLst>
          </a:custGeom>
          <a:blipFill>
            <a:blip>
              <a:extLst>
                <a:ext uri="{96DAC541-7B7A-43D3-8B79-37D633B846F1}">
                  <asvg:svgBlip xmlns:asvg="http://schemas.microsoft.com/office/drawing/2016/SVG/main" r:embed="rId6"/>
                </a:ext>
              </a:extLst>
            </a:blip>
            <a:stretch>
              <a:fillRect/>
            </a:stretch>
          </a:blipFill>
        </p:spPr>
      </p:sp>
      <p:sp>
        <p:nvSpPr>
          <p:cNvPr id="8" name="TextBox 8"/>
          <p:cNvSpPr txBox="1"/>
          <p:nvPr/>
        </p:nvSpPr>
        <p:spPr>
          <a:xfrm>
            <a:off x="876413" y="1969498"/>
            <a:ext cx="17026303" cy="82867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6599"/>
              </a:lnSpc>
              <a:spcBef>
                <a:spcPct val="0"/>
              </a:spcBef>
            </a:pPr>
            <a:r>
              <a:rPr lang="en-US" sz="5499" b="1">
                <a:solidFill>
                  <a:srgbClr val="1800AD"/>
                </a:solidFill>
                <a:latin typeface="Glacial Indifference Bold"/>
                <a:ea typeface="Glacial Indifference Bold"/>
                <a:cs typeface="Glacial Indifference Bold"/>
                <a:sym typeface="Glacial Indifference Bold"/>
              </a:rPr>
              <a:t>Opportunity Dataset Analysis &amp; Power BI Dashboard</a:t>
            </a:r>
          </a:p>
        </p:txBody>
      </p:sp>
      <p:sp>
        <p:nvSpPr>
          <p:cNvPr id="9" name="TextBox 9"/>
          <p:cNvSpPr txBox="1"/>
          <p:nvPr/>
        </p:nvSpPr>
        <p:spPr>
          <a:xfrm>
            <a:off x="4165601" y="4837538"/>
            <a:ext cx="10131974" cy="1146047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4355"/>
              </a:lnSpc>
            </a:pPr>
            <a:r>
              <a:rPr lang="en-US" sz="4399">
                <a:solidFill>
                  <a:srgbClr val="1800AD"/>
                </a:solidFill>
                <a:latin typeface="Bobby Jones Soft"/>
                <a:ea typeface="Bobby Jones Soft"/>
                <a:cs typeface="Bobby Jones Soft"/>
                <a:sym typeface="Bobby Jones Soft"/>
              </a:rPr>
              <a:t>EXCELERATE DATA VISUALIZATION TRAINEE PROGRAM | 0308 SLU DVT TEAM 1 </a:t>
            </a:r>
          </a:p>
        </p:txBody>
      </p:sp>
      <p:sp>
        <p:nvSpPr>
          <p:cNvPr id="10" name="TextBox 10"/>
          <p:cNvSpPr txBox="1"/>
          <p:nvPr/>
        </p:nvSpPr>
        <p:spPr>
          <a:xfrm>
            <a:off x="4794697" y="6580228"/>
            <a:ext cx="3167220" cy="46672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3600"/>
              </a:lnSpc>
              <a:spcBef>
                <a:spcPct val="0"/>
              </a:spcBef>
            </a:pPr>
            <a:r>
              <a:rPr lang="en-US" sz="3000">
                <a:solidFill>
                  <a:srgbClr val="1800AD"/>
                </a:solidFill>
                <a:latin typeface="Glacial Indifference"/>
                <a:ea typeface="Glacial Indifference"/>
                <a:cs typeface="Glacial Indifference"/>
                <a:sym typeface="Glacial Indifference"/>
              </a:rPr>
              <a:t>TEAM MEMBERS:</a:t>
            </a:r>
          </a:p>
        </p:txBody>
      </p:sp>
      <p:sp>
        <p:nvSpPr>
          <p:cNvPr id="11" name="TextBox 11"/>
          <p:cNvSpPr txBox="1"/>
          <p:nvPr/>
        </p:nvSpPr>
        <p:spPr>
          <a:xfrm>
            <a:off x="4808727" y="7391373"/>
            <a:ext cx="8670546" cy="98107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3839"/>
              </a:lnSpc>
            </a:pPr>
            <a:r>
              <a:rPr lang="en-US" sz="3199" b="1">
                <a:solidFill>
                  <a:srgbClr val="1800AD"/>
                </a:solidFill>
                <a:latin typeface="Glacial Indifference Bold"/>
                <a:ea typeface="Glacial Indifference Bold"/>
                <a:cs typeface="Glacial Indifference Bold"/>
                <a:sym typeface="Glacial Indifference Bold"/>
              </a:rPr>
              <a:t>Abiodun Michael Ogunleye | Aman Gupta | Fatima Saifuddin | Queen Bella</a:t>
            </a:r>
          </a:p>
        </p:txBody>
      </p:sp>
      <p:sp>
        <p:nvSpPr>
          <p:cNvPr id="12" name="TextBox 12"/>
          <p:cNvSpPr txBox="1"/>
          <p:nvPr/>
        </p:nvSpPr>
        <p:spPr>
          <a:xfrm>
            <a:off x="3351416" y="3278869"/>
            <a:ext cx="11399930" cy="87630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3480"/>
              </a:lnSpc>
              <a:spcBef>
                <a:spcPct val="0"/>
              </a:spcBef>
            </a:pPr>
            <a:r>
              <a:rPr lang="en-US" sz="2900">
                <a:solidFill>
                  <a:srgbClr val="1800AD"/>
                </a:solidFill>
                <a:latin typeface="Glacial Indifference"/>
                <a:ea typeface="Glacial Indifference"/>
                <a:cs typeface="Glacial Indifference"/>
                <a:sym typeface="Glacial Indifference"/>
              </a:rPr>
              <a:t>A Comprehensive Overview of Data Cleaning, Exploratory Analysis &amp; Interactive Power BI Dashboard Insights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2"/>
          <p:cNvSpPr txBox="1"/>
          <p:nvPr/>
        </p:nvSpPr>
        <p:spPr>
          <a:xfrm>
            <a:off x="1284431" y="1586585"/>
            <a:ext cx="10083140" cy="880236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6468"/>
              </a:lnSpc>
            </a:pPr>
            <a:r>
              <a:rPr lang="en-US" sz="6533">
                <a:solidFill>
                  <a:srgbClr val="1800AD"/>
                </a:solidFill>
                <a:latin typeface="Bobby Jones Soft"/>
                <a:ea typeface="Bobby Jones Soft"/>
                <a:cs typeface="Bobby Jones Soft"/>
                <a:sym typeface="Bobby Jones Soft"/>
              </a:rPr>
              <a:t>CORE DATA QUALITY &amp; KPIS</a:t>
            </a:r>
          </a:p>
        </p:txBody>
      </p:sp>
      <p:sp>
        <p:nvSpPr>
          <p:cNvPr id="3" name="Freeform 3"/>
          <p:cNvSpPr/>
          <p:nvPr/>
        </p:nvSpPr>
        <p:spPr>
          <a:xfrm rot="-7604635">
            <a:off x="-4789606" y="6487056"/>
            <a:ext cx="9579213" cy="6549787"/>
          </a:xfrm>
          <a:custGeom>
            <a:avLst/>
            <a:gdLst/>
            <a:ahLst/>
            <a:cxnLst/>
            <a:rect l="l" t="t" r="r" b="b"/>
            <a:pathLst>
              <a:path w="9579213" h="6549787">
                <a:moveTo>
                  <a:pt x="0" y="0"/>
                </a:moveTo>
                <a:lnTo>
                  <a:pt x="9579212" y="0"/>
                </a:lnTo>
                <a:lnTo>
                  <a:pt x="9579212" y="6549787"/>
                </a:lnTo>
                <a:lnTo>
                  <a:pt x="0" y="6549787"/>
                </a:lnTo>
                <a:lnTo>
                  <a:pt x="0" y="0"/>
                </a:lnTo>
                <a:close/>
              </a:path>
            </a:pathLst>
          </a:custGeom>
          <a:blipFill>
            <a:blip>
              <a:extLst>
                <a:ext uri="{96DAC541-7B7A-43D3-8B79-37D633B846F1}">
                  <asvg:svgBlip xmlns:asvg="http://schemas.microsoft.com/office/drawing/2016/SVG/main" r:embed="rId2"/>
                </a:ext>
              </a:extLst>
            </a:blip>
            <a:stretch>
              <a:fillRect/>
            </a:stretch>
          </a:blipFill>
        </p:spPr>
      </p:sp>
      <p:sp>
        <p:nvSpPr>
          <p:cNvPr id="4" name="Freeform 4"/>
          <p:cNvSpPr/>
          <p:nvPr/>
        </p:nvSpPr>
        <p:spPr>
          <a:xfrm rot="-7604635">
            <a:off x="13686142" y="-808073"/>
            <a:ext cx="9579213" cy="6549787"/>
          </a:xfrm>
          <a:custGeom>
            <a:avLst/>
            <a:gdLst/>
            <a:ahLst/>
            <a:cxnLst/>
            <a:rect l="l" t="t" r="r" b="b"/>
            <a:pathLst>
              <a:path w="9579213" h="6549787">
                <a:moveTo>
                  <a:pt x="0" y="0"/>
                </a:moveTo>
                <a:lnTo>
                  <a:pt x="9579213" y="0"/>
                </a:lnTo>
                <a:lnTo>
                  <a:pt x="9579213" y="6549787"/>
                </a:lnTo>
                <a:lnTo>
                  <a:pt x="0" y="6549787"/>
                </a:lnTo>
                <a:lnTo>
                  <a:pt x="0" y="0"/>
                </a:lnTo>
                <a:close/>
              </a:path>
            </a:pathLst>
          </a:custGeom>
          <a:blipFill>
            <a:blip>
              <a:extLst>
                <a:ext uri="{96DAC541-7B7A-43D3-8B79-37D633B846F1}">
                  <asvg:svgBlip xmlns:asvg="http://schemas.microsoft.com/office/drawing/2016/SVG/main" r:embed="rId2"/>
                </a:ext>
              </a:extLst>
            </a:blip>
            <a:stretch>
              <a:fillRect/>
            </a:stretch>
          </a:blipFill>
        </p:spPr>
      </p:sp>
      <p:sp>
        <p:nvSpPr>
          <p:cNvPr id="5" name="Freeform 5"/>
          <p:cNvSpPr/>
          <p:nvPr/>
        </p:nvSpPr>
        <p:spPr>
          <a:xfrm>
            <a:off x="1284431" y="6780385"/>
            <a:ext cx="1950408" cy="1950408"/>
          </a:xfrm>
          <a:custGeom>
            <a:avLst/>
            <a:gdLst/>
            <a:ahLst/>
            <a:cxnLst/>
            <a:rect l="l" t="t" r="r" b="b"/>
            <a:pathLst>
              <a:path w="1950408" h="1950408">
                <a:moveTo>
                  <a:pt x="0" y="0"/>
                </a:moveTo>
                <a:lnTo>
                  <a:pt x="1950407" y="0"/>
                </a:lnTo>
                <a:lnTo>
                  <a:pt x="1950407" y="1950408"/>
                </a:lnTo>
                <a:lnTo>
                  <a:pt x="0" y="1950408"/>
                </a:lnTo>
                <a:lnTo>
                  <a:pt x="0" y="0"/>
                </a:lnTo>
                <a:close/>
              </a:path>
            </a:pathLst>
          </a:custGeom>
          <a:blipFill>
            <a:blip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a:blipFill>
        </p:spPr>
      </p:sp>
      <p:sp>
        <p:nvSpPr>
          <p:cNvPr id="6" name="TextBox 6"/>
          <p:cNvSpPr txBox="1"/>
          <p:nvPr/>
        </p:nvSpPr>
        <p:spPr>
          <a:xfrm>
            <a:off x="1028700" y="2779560"/>
            <a:ext cx="13942691" cy="342900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821280" lvl="1" indent="-410640" algn="just">
              <a:lnSpc>
                <a:spcPts val="4564"/>
              </a:lnSpc>
              <a:buFont typeface="Arial"/>
              <a:buChar char="•"/>
            </a:pPr>
            <a:r>
              <a:rPr lang="en-US" sz="3803" b="1">
                <a:solidFill>
                  <a:srgbClr val="1800AD"/>
                </a:solidFill>
                <a:latin typeface="Glacial Indifference Bold"/>
                <a:ea typeface="Glacial Indifference Bold"/>
                <a:cs typeface="Glacial Indifference Bold"/>
                <a:sym typeface="Glacial Indifference Bold"/>
              </a:rPr>
              <a:t>Raw Volume</a:t>
            </a:r>
            <a:r>
              <a:rPr lang="en-US" sz="3803">
                <a:solidFill>
                  <a:srgbClr val="1800AD"/>
                </a:solidFill>
                <a:latin typeface="Glacial Indifference"/>
                <a:ea typeface="Glacial Indifference"/>
                <a:cs typeface="Glacial Indifference"/>
                <a:sym typeface="Glacial Indifference"/>
              </a:rPr>
              <a:t>: 5,733 records across 33 initial fields. </a:t>
            </a:r>
          </a:p>
          <a:p>
            <a:pPr marL="821280" lvl="1" indent="-410640" algn="just">
              <a:lnSpc>
                <a:spcPts val="4564"/>
              </a:lnSpc>
              <a:buFont typeface="Arial"/>
              <a:buChar char="•"/>
            </a:pPr>
            <a:r>
              <a:rPr lang="en-US" sz="3803" b="1">
                <a:solidFill>
                  <a:srgbClr val="1800AD"/>
                </a:solidFill>
                <a:latin typeface="Glacial Indifference Bold"/>
                <a:ea typeface="Glacial Indifference Bold"/>
                <a:cs typeface="Glacial Indifference Bold"/>
                <a:sym typeface="Glacial Indifference Bold"/>
              </a:rPr>
              <a:t>Cleaned Volume:</a:t>
            </a:r>
            <a:r>
              <a:rPr lang="en-US" sz="3803">
                <a:solidFill>
                  <a:srgbClr val="1800AD"/>
                </a:solidFill>
                <a:latin typeface="Glacial Indifference"/>
                <a:ea typeface="Glacial Indifference"/>
                <a:cs typeface="Glacial Indifference"/>
                <a:sym typeface="Glacial Indifference"/>
              </a:rPr>
              <a:t> 5,728 records (5 corrupted rows removed) &amp; 36 total fields (3 flag columns added). </a:t>
            </a:r>
          </a:p>
          <a:p>
            <a:pPr marL="821280" lvl="1" indent="-410640" algn="just">
              <a:lnSpc>
                <a:spcPts val="4564"/>
              </a:lnSpc>
              <a:buFont typeface="Arial"/>
              <a:buChar char="•"/>
            </a:pPr>
            <a:r>
              <a:rPr lang="en-US" sz="3803" b="1">
                <a:solidFill>
                  <a:srgbClr val="1800AD"/>
                </a:solidFill>
                <a:latin typeface="Glacial Indifference Bold"/>
                <a:ea typeface="Glacial Indifference Bold"/>
                <a:cs typeface="Glacial Indifference Bold"/>
                <a:sym typeface="Glacial Indifference Bold"/>
              </a:rPr>
              <a:t>Production Analysis Base:</a:t>
            </a:r>
            <a:r>
              <a:rPr lang="en-US" sz="3803">
                <a:solidFill>
                  <a:srgbClr val="1800AD"/>
                </a:solidFill>
                <a:latin typeface="Glacial Indifference"/>
                <a:ea typeface="Glacial Indifference"/>
                <a:cs typeface="Glacial Indifference"/>
                <a:sym typeface="Glacial Indifference"/>
              </a:rPr>
              <a:t> 1,542 production-representative records analyzed after filtering 4,186 test/placeholder entries. </a:t>
            </a:r>
          </a:p>
          <a:p>
            <a:pPr algn="just">
              <a:lnSpc>
                <a:spcPts val="4564"/>
              </a:lnSpc>
              <a:spcBef>
                <a:spcPct val="0"/>
              </a:spcBef>
            </a:pPr>
            <a:endParaRPr lang="en-US" sz="3803">
              <a:solidFill>
                <a:srgbClr val="1800AD"/>
              </a:solidFill>
              <a:latin typeface="Glacial Indifference"/>
              <a:ea typeface="Glacial Indifference"/>
              <a:cs typeface="Glacial Indifference"/>
              <a:sym typeface="Glacial Indifference"/>
            </a:endParaRPr>
          </a:p>
        </p:txBody>
      </p:sp>
      <p:sp>
        <p:nvSpPr>
          <p:cNvPr id="7" name="TextBox 7"/>
          <p:cNvSpPr txBox="1"/>
          <p:nvPr/>
        </p:nvSpPr>
        <p:spPr>
          <a:xfrm>
            <a:off x="5489561" y="6292662"/>
            <a:ext cx="10552940" cy="300990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just">
              <a:lnSpc>
                <a:spcPts val="4799"/>
              </a:lnSpc>
              <a:spcBef>
                <a:spcPct val="0"/>
              </a:spcBef>
            </a:pPr>
            <a:r>
              <a:rPr lang="en-US" sz="3999" b="1">
                <a:solidFill>
                  <a:srgbClr val="1800AD"/>
                </a:solidFill>
                <a:latin typeface="Glacial Indifference Bold"/>
                <a:ea typeface="Glacial Indifference Bold"/>
                <a:cs typeface="Glacial Indifference Bold"/>
                <a:sym typeface="Glacial Indifference Bold"/>
              </a:rPr>
              <a:t>Project Scope: </a:t>
            </a:r>
            <a:r>
              <a:rPr lang="en-US" sz="3999">
                <a:solidFill>
                  <a:srgbClr val="1800AD"/>
                </a:solidFill>
                <a:latin typeface="Glacial Indifference"/>
                <a:ea typeface="Glacial Indifference"/>
                <a:cs typeface="Glacial Indifference"/>
                <a:sym typeface="Glacial Indifference"/>
              </a:rPr>
              <a:t>Comprehensive end-to-end data pipeline covering non-destructive data cleaning, exploratory data analysis (EDA), data dictionary architecture and interactive Power BI dashboarding. 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eeform 2"/>
          <p:cNvSpPr/>
          <p:nvPr/>
        </p:nvSpPr>
        <p:spPr>
          <a:xfrm rot="-3475241">
            <a:off x="-3424462" y="-377493"/>
            <a:ext cx="6282424" cy="4295608"/>
          </a:xfrm>
          <a:custGeom>
            <a:avLst/>
            <a:gdLst/>
            <a:ahLst/>
            <a:cxnLst/>
            <a:rect l="l" t="t" r="r" b="b"/>
            <a:pathLst>
              <a:path w="6282424" h="4295608">
                <a:moveTo>
                  <a:pt x="0" y="0"/>
                </a:moveTo>
                <a:lnTo>
                  <a:pt x="6282425" y="0"/>
                </a:lnTo>
                <a:lnTo>
                  <a:pt x="6282425" y="4295608"/>
                </a:lnTo>
                <a:lnTo>
                  <a:pt x="0" y="4295608"/>
                </a:lnTo>
                <a:lnTo>
                  <a:pt x="0" y="0"/>
                </a:lnTo>
                <a:close/>
              </a:path>
            </a:pathLst>
          </a:custGeom>
          <a:blipFill>
            <a:blip>
              <a:extLst>
                <a:ext uri="{96DAC541-7B7A-43D3-8B79-37D633B846F1}">
                  <asvg:svgBlip xmlns:asvg="http://schemas.microsoft.com/office/drawing/2016/SVG/main" r:embed="rId2"/>
                </a:ext>
              </a:extLst>
            </a:blip>
            <a:stretch>
              <a:fillRect/>
            </a:stretch>
          </a:blipFill>
        </p:spPr>
      </p:sp>
      <p:sp>
        <p:nvSpPr>
          <p:cNvPr id="3" name="Freeform 3"/>
          <p:cNvSpPr/>
          <p:nvPr/>
        </p:nvSpPr>
        <p:spPr>
          <a:xfrm rot="9813823">
            <a:off x="12857907" y="7601174"/>
            <a:ext cx="9579213" cy="6549787"/>
          </a:xfrm>
          <a:custGeom>
            <a:avLst/>
            <a:gdLst/>
            <a:ahLst/>
            <a:cxnLst/>
            <a:rect l="l" t="t" r="r" b="b"/>
            <a:pathLst>
              <a:path w="9579213" h="6549787">
                <a:moveTo>
                  <a:pt x="0" y="0"/>
                </a:moveTo>
                <a:lnTo>
                  <a:pt x="9579213" y="0"/>
                </a:lnTo>
                <a:lnTo>
                  <a:pt x="9579213" y="6549786"/>
                </a:lnTo>
                <a:lnTo>
                  <a:pt x="0" y="6549786"/>
                </a:lnTo>
                <a:lnTo>
                  <a:pt x="0" y="0"/>
                </a:lnTo>
                <a:close/>
              </a:path>
            </a:pathLst>
          </a:custGeom>
          <a:blipFill>
            <a:blip>
              <a:extLst>
                <a:ext uri="{96DAC541-7B7A-43D3-8B79-37D633B846F1}">
                  <asvg:svgBlip xmlns:asvg="http://schemas.microsoft.com/office/drawing/2016/SVG/main" r:embed="rId2"/>
                </a:ext>
              </a:extLst>
            </a:blip>
            <a:stretch>
              <a:fillRect/>
            </a:stretch>
          </a:blipFill>
        </p:spPr>
      </p:sp>
      <p:sp>
        <p:nvSpPr>
          <p:cNvPr id="4" name="TextBox 4"/>
          <p:cNvSpPr txBox="1"/>
          <p:nvPr/>
        </p:nvSpPr>
        <p:spPr>
          <a:xfrm>
            <a:off x="879488" y="2229311"/>
            <a:ext cx="16379812" cy="668655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734923" lvl="1" indent="-367461" algn="just">
              <a:lnSpc>
                <a:spcPts val="4084"/>
              </a:lnSpc>
              <a:buFont typeface="Arial"/>
              <a:buChar char="•"/>
            </a:pPr>
            <a:r>
              <a:rPr lang="en-US" sz="3403" b="1" spc="211">
                <a:solidFill>
                  <a:srgbClr val="1800AD"/>
                </a:solidFill>
                <a:latin typeface="Glacial Indifference Bold"/>
                <a:ea typeface="Glacial Indifference Bold"/>
                <a:cs typeface="Glacial Indifference Bold"/>
                <a:sym typeface="Glacial Indifference Bold"/>
              </a:rPr>
              <a:t>Non-Destructive M.I.I.D.E. Framework: </a:t>
            </a:r>
            <a:r>
              <a:rPr lang="en-US" sz="3403" spc="211">
                <a:solidFill>
                  <a:srgbClr val="1800AD"/>
                </a:solidFill>
                <a:latin typeface="Glacial Indifference"/>
                <a:ea typeface="Glacial Indifference"/>
                <a:cs typeface="Glacial Indifference"/>
                <a:sym typeface="Glacial Indifference"/>
              </a:rPr>
              <a:t>Preserved auditability by applying flag columns rather than silently deleting uncertain or outlier records. </a:t>
            </a:r>
          </a:p>
          <a:p>
            <a:pPr marL="734923" lvl="1" indent="-367461" algn="just">
              <a:lnSpc>
                <a:spcPts val="4084"/>
              </a:lnSpc>
              <a:buFont typeface="Arial"/>
              <a:buChar char="•"/>
            </a:pPr>
            <a:r>
              <a:rPr lang="en-US" sz="3403" b="1" spc="211">
                <a:solidFill>
                  <a:srgbClr val="1800AD"/>
                </a:solidFill>
                <a:latin typeface="Glacial Indifference Bold"/>
                <a:ea typeface="Glacial Indifference Bold"/>
                <a:cs typeface="Glacial Indifference Bold"/>
                <a:sym typeface="Glacial Indifference Bold"/>
              </a:rPr>
              <a:t>Removal of Corrupted Data:</a:t>
            </a:r>
            <a:r>
              <a:rPr lang="en-US" sz="3403" spc="211">
                <a:solidFill>
                  <a:srgbClr val="1800AD"/>
                </a:solidFill>
                <a:latin typeface="Glacial Indifference"/>
                <a:ea typeface="Glacial Indifference"/>
                <a:cs typeface="Glacial Indifference"/>
                <a:sym typeface="Glacial Indifference"/>
              </a:rPr>
              <a:t> Excluded only 5 unusable rows (3 containing raw JSON export errors and 2 invalid "Testimonial#" IDs). </a:t>
            </a:r>
          </a:p>
          <a:p>
            <a:pPr marL="734923" lvl="1" indent="-367461" algn="just">
              <a:lnSpc>
                <a:spcPts val="4084"/>
              </a:lnSpc>
              <a:buFont typeface="Arial"/>
              <a:buChar char="•"/>
            </a:pPr>
            <a:r>
              <a:rPr lang="en-US" sz="3403" b="1" spc="211">
                <a:solidFill>
                  <a:srgbClr val="1800AD"/>
                </a:solidFill>
                <a:latin typeface="Glacial Indifference Bold"/>
                <a:ea typeface="Glacial Indifference Bold"/>
                <a:cs typeface="Glacial Indifference Bold"/>
                <a:sym typeface="Glacial Indifference Bold"/>
              </a:rPr>
              <a:t>Flagging Strategy over Deletion:</a:t>
            </a:r>
          </a:p>
          <a:p>
            <a:pPr marL="734923" lvl="1" indent="-367461" algn="just">
              <a:lnSpc>
                <a:spcPts val="4084"/>
              </a:lnSpc>
              <a:buFont typeface="Arial"/>
              <a:buChar char="•"/>
            </a:pPr>
            <a:r>
              <a:rPr lang="en-US" sz="3403" spc="211">
                <a:solidFill>
                  <a:srgbClr val="1800AD"/>
                </a:solidFill>
                <a:latin typeface="Glacial Indifference"/>
                <a:ea typeface="Glacial Indifference"/>
                <a:cs typeface="Glacial Indifference"/>
                <a:sym typeface="Glacial Indifference"/>
              </a:rPr>
              <a:t>Created is_test_or_placeholder flag to isolate 4,186 internal demo/automation records without permanent deletion. </a:t>
            </a:r>
          </a:p>
          <a:p>
            <a:pPr marL="734923" lvl="1" indent="-367461" algn="just">
              <a:lnSpc>
                <a:spcPts val="4084"/>
              </a:lnSpc>
              <a:buFont typeface="Arial"/>
              <a:buChar char="•"/>
            </a:pPr>
            <a:r>
              <a:rPr lang="en-US" sz="3403" spc="211">
                <a:solidFill>
                  <a:srgbClr val="1800AD"/>
                </a:solidFill>
                <a:latin typeface="Glacial Indifference"/>
                <a:ea typeface="Glacial Indifference"/>
                <a:cs typeface="Glacial Indifference"/>
                <a:sym typeface="Glacial Indifference"/>
              </a:rPr>
              <a:t>Added fee_flag (1,103 outlier fees marked for review) and quality_review_flag (1,467 records flagged for missing currency or pre-creation deadlines). </a:t>
            </a:r>
          </a:p>
          <a:p>
            <a:pPr marL="734923" lvl="1" indent="-367461" algn="just">
              <a:lnSpc>
                <a:spcPts val="4084"/>
              </a:lnSpc>
              <a:spcBef>
                <a:spcPct val="0"/>
              </a:spcBef>
              <a:buFont typeface="Arial"/>
              <a:buChar char="•"/>
            </a:pPr>
            <a:r>
              <a:rPr lang="en-US" sz="3403" b="1" spc="211">
                <a:solidFill>
                  <a:srgbClr val="1800AD"/>
                </a:solidFill>
                <a:latin typeface="Glacial Indifference Bold"/>
                <a:ea typeface="Glacial Indifference Bold"/>
                <a:cs typeface="Glacial Indifference Bold"/>
                <a:sym typeface="Glacial Indifference Bold"/>
              </a:rPr>
              <a:t>Cleaning Log &amp; Auditing:</a:t>
            </a:r>
            <a:r>
              <a:rPr lang="en-US" sz="3403" spc="211">
                <a:solidFill>
                  <a:srgbClr val="1800AD"/>
                </a:solidFill>
                <a:latin typeface="Glacial Indifference"/>
                <a:ea typeface="Glacial Indifference"/>
                <a:cs typeface="Glacial Indifference"/>
                <a:sym typeface="Glacial Indifference"/>
              </a:rPr>
              <a:t> Maintained Python (pandas) scripts for full process repeatability and step-by-step transparency. </a:t>
            </a:r>
          </a:p>
        </p:txBody>
      </p:sp>
      <p:sp>
        <p:nvSpPr>
          <p:cNvPr id="5" name="TextBox 5"/>
          <p:cNvSpPr txBox="1"/>
          <p:nvPr/>
        </p:nvSpPr>
        <p:spPr>
          <a:xfrm>
            <a:off x="2172921" y="1133475"/>
            <a:ext cx="13942157" cy="819911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6038"/>
              </a:lnSpc>
            </a:pPr>
            <a:r>
              <a:rPr lang="en-US" sz="6099">
                <a:solidFill>
                  <a:srgbClr val="1800AD"/>
                </a:solidFill>
                <a:latin typeface="Bobby Jones Soft"/>
                <a:ea typeface="Bobby Jones Soft"/>
                <a:cs typeface="Bobby Jones Soft"/>
                <a:sym typeface="Bobby Jones Soft"/>
              </a:rPr>
              <a:t>DATA CLEANING FRAMEWORK &amp; METHODOLOGY</a:t>
            </a:r>
          </a:p>
        </p:txBody>
      </p:sp>
      <p:sp>
        <p:nvSpPr>
          <p:cNvPr id="6" name="TextBox 6"/>
          <p:cNvSpPr txBox="1"/>
          <p:nvPr/>
        </p:nvSpPr>
        <p:spPr>
          <a:xfrm>
            <a:off x="0" y="9820275"/>
            <a:ext cx="1433389" cy="46672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3600"/>
              </a:lnSpc>
              <a:spcBef>
                <a:spcPct val="0"/>
              </a:spcBef>
            </a:pPr>
            <a:r>
              <a:rPr lang="en-US" sz="3000">
                <a:solidFill>
                  <a:srgbClr val="1800AD"/>
                </a:solidFill>
                <a:latin typeface="Glacial Indifference"/>
                <a:ea typeface="Glacial Indifference"/>
                <a:cs typeface="Glacial Indifference"/>
                <a:sym typeface="Glacial Indifference"/>
              </a:rPr>
              <a:t>Queen 1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eeform 2"/>
          <p:cNvSpPr/>
          <p:nvPr/>
        </p:nvSpPr>
        <p:spPr>
          <a:xfrm rot="4269580">
            <a:off x="14735487" y="-1162589"/>
            <a:ext cx="6409619" cy="4382577"/>
          </a:xfrm>
          <a:custGeom>
            <a:avLst/>
            <a:gdLst/>
            <a:ahLst/>
            <a:cxnLst/>
            <a:rect l="l" t="t" r="r" b="b"/>
            <a:pathLst>
              <a:path w="6409619" h="4382577">
                <a:moveTo>
                  <a:pt x="0" y="0"/>
                </a:moveTo>
                <a:lnTo>
                  <a:pt x="6409619" y="0"/>
                </a:lnTo>
                <a:lnTo>
                  <a:pt x="6409619" y="4382578"/>
                </a:lnTo>
                <a:lnTo>
                  <a:pt x="0" y="4382578"/>
                </a:lnTo>
                <a:lnTo>
                  <a:pt x="0" y="0"/>
                </a:lnTo>
                <a:close/>
              </a:path>
            </a:pathLst>
          </a:custGeom>
          <a:blipFill>
            <a:blip>
              <a:extLst>
                <a:ext uri="{96DAC541-7B7A-43D3-8B79-37D633B846F1}">
                  <asvg:svgBlip xmlns:asvg="http://schemas.microsoft.com/office/drawing/2016/SVG/main" r:embed="rId2"/>
                </a:ext>
              </a:extLst>
            </a:blip>
            <a:stretch>
              <a:fillRect/>
            </a:stretch>
          </a:blipFill>
        </p:spPr>
      </p:sp>
      <p:sp>
        <p:nvSpPr>
          <p:cNvPr id="3" name="Freeform 3"/>
          <p:cNvSpPr/>
          <p:nvPr/>
        </p:nvSpPr>
        <p:spPr>
          <a:xfrm rot="-2805706">
            <a:off x="-5386874" y="-3272402"/>
            <a:ext cx="9571925" cy="6544804"/>
          </a:xfrm>
          <a:custGeom>
            <a:avLst/>
            <a:gdLst/>
            <a:ahLst/>
            <a:cxnLst/>
            <a:rect l="l" t="t" r="r" b="b"/>
            <a:pathLst>
              <a:path w="9571925" h="6544804">
                <a:moveTo>
                  <a:pt x="0" y="0"/>
                </a:moveTo>
                <a:lnTo>
                  <a:pt x="9571926" y="0"/>
                </a:lnTo>
                <a:lnTo>
                  <a:pt x="9571926" y="6544804"/>
                </a:lnTo>
                <a:lnTo>
                  <a:pt x="0" y="6544804"/>
                </a:lnTo>
                <a:lnTo>
                  <a:pt x="0" y="0"/>
                </a:lnTo>
                <a:close/>
              </a:path>
            </a:pathLst>
          </a:custGeom>
          <a:blipFill>
            <a:blip>
              <a:extLst>
                <a:ext uri="{96DAC541-7B7A-43D3-8B79-37D633B846F1}">
                  <asvg:svgBlip xmlns:asvg="http://schemas.microsoft.com/office/drawing/2016/SVG/main" r:embed="rId2"/>
                </a:ext>
              </a:extLst>
            </a:blip>
            <a:stretch>
              <a:fillRect/>
            </a:stretch>
          </a:blipFill>
        </p:spPr>
      </p:sp>
      <p:sp>
        <p:nvSpPr>
          <p:cNvPr id="4" name="Freeform 4"/>
          <p:cNvSpPr/>
          <p:nvPr/>
        </p:nvSpPr>
        <p:spPr>
          <a:xfrm>
            <a:off x="13590050" y="1028700"/>
            <a:ext cx="1838473" cy="1917573"/>
          </a:xfrm>
          <a:custGeom>
            <a:avLst/>
            <a:gdLst/>
            <a:ahLst/>
            <a:cxnLst/>
            <a:rect l="l" t="t" r="r" b="b"/>
            <a:pathLst>
              <a:path w="1838473" h="1917573">
                <a:moveTo>
                  <a:pt x="0" y="0"/>
                </a:moveTo>
                <a:lnTo>
                  <a:pt x="1838473" y="0"/>
                </a:lnTo>
                <a:lnTo>
                  <a:pt x="1838473" y="1917573"/>
                </a:lnTo>
                <a:lnTo>
                  <a:pt x="0" y="1917573"/>
                </a:lnTo>
                <a:lnTo>
                  <a:pt x="0" y="0"/>
                </a:lnTo>
                <a:close/>
              </a:path>
            </a:pathLst>
          </a:custGeom>
          <a:blipFill>
            <a:blip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a:blipFill>
        </p:spPr>
      </p:sp>
      <p:sp>
        <p:nvSpPr>
          <p:cNvPr id="5" name="TextBox 5"/>
          <p:cNvSpPr txBox="1"/>
          <p:nvPr/>
        </p:nvSpPr>
        <p:spPr>
          <a:xfrm>
            <a:off x="688550" y="2955798"/>
            <a:ext cx="16162570" cy="6313932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712468" lvl="1" indent="-356234" algn="just">
              <a:lnSpc>
                <a:spcPts val="3893"/>
              </a:lnSpc>
              <a:buFont typeface="Arial"/>
              <a:buChar char="•"/>
            </a:pPr>
            <a:r>
              <a:rPr lang="en-US" sz="3299" b="1" spc="277">
                <a:solidFill>
                  <a:srgbClr val="1800AD"/>
                </a:solidFill>
                <a:latin typeface="Glacial Indifference Bold"/>
                <a:ea typeface="Glacial Indifference Bold"/>
                <a:cs typeface="Glacial Indifference Bold"/>
                <a:sym typeface="Glacial Indifference Bold"/>
              </a:rPr>
              <a:t>Categorical Normalization:</a:t>
            </a:r>
            <a:r>
              <a:rPr lang="en-US" sz="3299" spc="277">
                <a:solidFill>
                  <a:srgbClr val="1800AD"/>
                </a:solidFill>
                <a:latin typeface="Glacial Indifference"/>
                <a:ea typeface="Glacial Indifference"/>
                <a:cs typeface="Glacial Indifference"/>
                <a:sym typeface="Glacial Indifference"/>
              </a:rPr>
              <a:t> Merged 11 raw variants into 2 core categories: Work From Home (consolidating "WFM", "Work From Home") and Virtual (fixing "vitrual" typos and case differences). </a:t>
            </a:r>
          </a:p>
          <a:p>
            <a:pPr marL="712468" lvl="1" indent="-356234" algn="just">
              <a:lnSpc>
                <a:spcPts val="3893"/>
              </a:lnSpc>
              <a:buFont typeface="Arial"/>
              <a:buChar char="•"/>
            </a:pPr>
            <a:r>
              <a:rPr lang="en-US" sz="3299" b="1" spc="277">
                <a:solidFill>
                  <a:srgbClr val="1800AD"/>
                </a:solidFill>
                <a:latin typeface="Glacial Indifference Bold"/>
                <a:ea typeface="Glacial Indifference Bold"/>
                <a:cs typeface="Glacial Indifference Bold"/>
                <a:sym typeface="Glacial Indifference Bold"/>
              </a:rPr>
              <a:t>Currency &amp; Unit Consistency:</a:t>
            </a:r>
            <a:r>
              <a:rPr lang="en-US" sz="3299" spc="277">
                <a:solidFill>
                  <a:srgbClr val="1800AD"/>
                </a:solidFill>
                <a:latin typeface="Glacial Indifference"/>
                <a:ea typeface="Glacial Indifference"/>
                <a:cs typeface="Glacial Indifference"/>
                <a:sym typeface="Glacial Indifference"/>
              </a:rPr>
              <a:t> Consolidated EUR and EURO labels into a single EUR standard; standardized duration_type to plural forms across the dataset. </a:t>
            </a:r>
          </a:p>
          <a:p>
            <a:pPr marL="712468" lvl="1" indent="-356234" algn="just">
              <a:lnSpc>
                <a:spcPts val="3893"/>
              </a:lnSpc>
              <a:buFont typeface="Arial"/>
              <a:buChar char="•"/>
            </a:pPr>
            <a:r>
              <a:rPr lang="en-US" sz="3299" b="1" spc="277">
                <a:solidFill>
                  <a:srgbClr val="1800AD"/>
                </a:solidFill>
                <a:latin typeface="Glacial Indifference Bold"/>
                <a:ea typeface="Glacial Indifference Bold"/>
                <a:cs typeface="Glacial Indifference Bold"/>
                <a:sym typeface="Glacial Indifference Bold"/>
              </a:rPr>
              <a:t>Boolean &amp; Timestamp Conversions:</a:t>
            </a:r>
          </a:p>
          <a:p>
            <a:pPr marL="712468" lvl="1" indent="-356234" algn="just">
              <a:lnSpc>
                <a:spcPts val="3893"/>
              </a:lnSpc>
              <a:buFont typeface="Arial"/>
              <a:buChar char="•"/>
            </a:pPr>
            <a:r>
              <a:rPr lang="en-US" sz="3299" spc="277">
                <a:solidFill>
                  <a:srgbClr val="1800AD"/>
                </a:solidFill>
                <a:latin typeface="Glacial Indifference"/>
                <a:ea typeface="Glacial Indifference"/>
                <a:cs typeface="Glacial Indifference"/>
                <a:sym typeface="Glacial Indifference"/>
              </a:rPr>
              <a:t>Converted is_archived and is_auto_approve values into standard binary ($1/0$) flags. </a:t>
            </a:r>
          </a:p>
          <a:p>
            <a:pPr marL="712468" lvl="1" indent="-356234" algn="just">
              <a:lnSpc>
                <a:spcPts val="3893"/>
              </a:lnSpc>
              <a:buFont typeface="Arial"/>
              <a:buChar char="•"/>
            </a:pPr>
            <a:r>
              <a:rPr lang="en-US" sz="3299" spc="277">
                <a:solidFill>
                  <a:srgbClr val="1800AD"/>
                </a:solidFill>
                <a:latin typeface="Glacial Indifference"/>
                <a:ea typeface="Glacial Indifference"/>
                <a:cs typeface="Glacial Indifference"/>
                <a:sym typeface="Glacial Indifference"/>
              </a:rPr>
              <a:t>Parsed epoch millisecond timestamps into standardized calendar date formats across created_at, modified_at, and last_date_to_apply. </a:t>
            </a:r>
          </a:p>
          <a:p>
            <a:pPr marL="712468" lvl="1" indent="-356234" algn="just">
              <a:lnSpc>
                <a:spcPts val="3893"/>
              </a:lnSpc>
              <a:buFont typeface="Arial"/>
              <a:buChar char="•"/>
            </a:pPr>
            <a:r>
              <a:rPr lang="en-US" sz="3299" b="1" spc="277">
                <a:solidFill>
                  <a:srgbClr val="1800AD"/>
                </a:solidFill>
                <a:latin typeface="Glacial Indifference Bold"/>
                <a:ea typeface="Glacial Indifference Bold"/>
                <a:cs typeface="Glacial Indifference Bold"/>
                <a:sym typeface="Glacial Indifference Bold"/>
              </a:rPr>
              <a:t>Sanitization:</a:t>
            </a:r>
            <a:r>
              <a:rPr lang="en-US" sz="3299" spc="277">
                <a:solidFill>
                  <a:srgbClr val="1800AD"/>
                </a:solidFill>
                <a:latin typeface="Glacial Indifference"/>
                <a:ea typeface="Glacial Indifference"/>
                <a:cs typeface="Glacial Indifference"/>
                <a:sym typeface="Glacial Indifference"/>
              </a:rPr>
              <a:t> Converted literal text "Null" entries into true blanks and trimmed whitespace dataset-wide.</a:t>
            </a:r>
          </a:p>
        </p:txBody>
      </p:sp>
      <p:sp>
        <p:nvSpPr>
          <p:cNvPr id="6" name="TextBox 6"/>
          <p:cNvSpPr txBox="1"/>
          <p:nvPr/>
        </p:nvSpPr>
        <p:spPr>
          <a:xfrm>
            <a:off x="3218501" y="1143000"/>
            <a:ext cx="9570058" cy="1719072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6534"/>
              </a:lnSpc>
            </a:pPr>
            <a:r>
              <a:rPr lang="en-US" sz="6600">
                <a:solidFill>
                  <a:srgbClr val="1800AD"/>
                </a:solidFill>
                <a:latin typeface="Bobby Jones Soft"/>
                <a:ea typeface="Bobby Jones Soft"/>
                <a:cs typeface="Bobby Jones Soft"/>
                <a:sym typeface="Bobby Jones Soft"/>
              </a:rPr>
              <a:t>DATA STANDARDISATION &amp; QUALITY ENGINEERING</a:t>
            </a:r>
          </a:p>
        </p:txBody>
      </p:sp>
      <p:sp>
        <p:nvSpPr>
          <p:cNvPr id="7" name="TextBox 7"/>
          <p:cNvSpPr txBox="1"/>
          <p:nvPr/>
        </p:nvSpPr>
        <p:spPr>
          <a:xfrm>
            <a:off x="0" y="9820275"/>
            <a:ext cx="1975211" cy="46672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3600"/>
              </a:lnSpc>
              <a:spcBef>
                <a:spcPct val="0"/>
              </a:spcBef>
            </a:pPr>
            <a:r>
              <a:rPr lang="en-US" sz="3000">
                <a:solidFill>
                  <a:srgbClr val="1800AD"/>
                </a:solidFill>
                <a:latin typeface="Glacial Indifference"/>
                <a:ea typeface="Glacial Indifference"/>
                <a:cs typeface="Glacial Indifference"/>
                <a:sym typeface="Glacial Indifference"/>
              </a:rPr>
              <a:t>Queen 2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eeform 2"/>
          <p:cNvSpPr/>
          <p:nvPr/>
        </p:nvSpPr>
        <p:spPr>
          <a:xfrm rot="-7604635">
            <a:off x="-5053822" y="7012107"/>
            <a:ext cx="9579213" cy="6549787"/>
          </a:xfrm>
          <a:custGeom>
            <a:avLst/>
            <a:gdLst/>
            <a:ahLst/>
            <a:cxnLst/>
            <a:rect l="l" t="t" r="r" b="b"/>
            <a:pathLst>
              <a:path w="9579213" h="6549787">
                <a:moveTo>
                  <a:pt x="0" y="0"/>
                </a:moveTo>
                <a:lnTo>
                  <a:pt x="9579213" y="0"/>
                </a:lnTo>
                <a:lnTo>
                  <a:pt x="9579213" y="6549786"/>
                </a:lnTo>
                <a:lnTo>
                  <a:pt x="0" y="6549786"/>
                </a:lnTo>
                <a:lnTo>
                  <a:pt x="0" y="0"/>
                </a:lnTo>
                <a:close/>
              </a:path>
            </a:pathLst>
          </a:custGeom>
          <a:blipFill>
            <a:blip>
              <a:extLst>
                <a:ext uri="{96DAC541-7B7A-43D3-8B79-37D633B846F1}">
                  <asvg:svgBlip xmlns:asvg="http://schemas.microsoft.com/office/drawing/2016/SVG/main" r:embed="rId2"/>
                </a:ext>
              </a:extLst>
            </a:blip>
            <a:stretch>
              <a:fillRect/>
            </a:stretch>
          </a:blipFill>
        </p:spPr>
      </p:sp>
      <p:sp>
        <p:nvSpPr>
          <p:cNvPr id="3" name="Freeform 3"/>
          <p:cNvSpPr/>
          <p:nvPr/>
        </p:nvSpPr>
        <p:spPr>
          <a:xfrm rot="-8100000">
            <a:off x="14835093" y="-1199350"/>
            <a:ext cx="9176915" cy="6274716"/>
          </a:xfrm>
          <a:custGeom>
            <a:avLst/>
            <a:gdLst/>
            <a:ahLst/>
            <a:cxnLst/>
            <a:rect l="l" t="t" r="r" b="b"/>
            <a:pathLst>
              <a:path w="9176915" h="6274716">
                <a:moveTo>
                  <a:pt x="0" y="0"/>
                </a:moveTo>
                <a:lnTo>
                  <a:pt x="9176915" y="0"/>
                </a:lnTo>
                <a:lnTo>
                  <a:pt x="9176915" y="6274716"/>
                </a:lnTo>
                <a:lnTo>
                  <a:pt x="0" y="6274716"/>
                </a:lnTo>
                <a:lnTo>
                  <a:pt x="0" y="0"/>
                </a:lnTo>
                <a:close/>
              </a:path>
            </a:pathLst>
          </a:custGeom>
          <a:blipFill>
            <a:blip>
              <a:extLst>
                <a:ext uri="{96DAC541-7B7A-43D3-8B79-37D633B846F1}">
                  <asvg:svgBlip xmlns:asvg="http://schemas.microsoft.com/office/drawing/2016/SVG/main" r:embed="rId2"/>
                </a:ext>
              </a:extLst>
            </a:blip>
            <a:stretch>
              <a:fillRect/>
            </a:stretch>
          </a:blipFill>
        </p:spPr>
      </p:sp>
      <p:sp>
        <p:nvSpPr>
          <p:cNvPr id="4" name="TextBox 4"/>
          <p:cNvSpPr txBox="1"/>
          <p:nvPr/>
        </p:nvSpPr>
        <p:spPr>
          <a:xfrm>
            <a:off x="3460221" y="925793"/>
            <a:ext cx="10909257" cy="1740789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6632"/>
              </a:lnSpc>
            </a:pPr>
            <a:r>
              <a:rPr lang="en-US" sz="6699">
                <a:solidFill>
                  <a:srgbClr val="1800AD"/>
                </a:solidFill>
                <a:latin typeface="Bobby Jones Soft"/>
                <a:ea typeface="Bobby Jones Soft"/>
                <a:cs typeface="Bobby Jones Soft"/>
                <a:sym typeface="Bobby Jones Soft"/>
              </a:rPr>
              <a:t>KEY METRICS &amp; PLATFORM EXPLORATORY SUMMARY</a:t>
            </a:r>
          </a:p>
        </p:txBody>
      </p:sp>
      <p:sp>
        <p:nvSpPr>
          <p:cNvPr id="5" name="TextBox 5"/>
          <p:cNvSpPr txBox="1"/>
          <p:nvPr/>
        </p:nvSpPr>
        <p:spPr>
          <a:xfrm>
            <a:off x="937591" y="2825587"/>
            <a:ext cx="16321709" cy="6176594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just">
              <a:lnSpc>
                <a:spcPts val="4425"/>
              </a:lnSpc>
            </a:pPr>
            <a:r>
              <a:rPr lang="en-US" sz="3403" b="1" spc="299">
                <a:solidFill>
                  <a:srgbClr val="1800AD"/>
                </a:solidFill>
                <a:latin typeface="Glacial Indifference Bold"/>
                <a:ea typeface="Glacial Indifference Bold"/>
                <a:cs typeface="Glacial Indifference Bold"/>
                <a:sym typeface="Glacial Indifference Bold"/>
              </a:rPr>
              <a:t>Platform Baseline KPIs (n = 1,542):</a:t>
            </a:r>
          </a:p>
          <a:p>
            <a:pPr marL="734923" lvl="1" indent="-367461" algn="just">
              <a:lnSpc>
                <a:spcPts val="4425"/>
              </a:lnSpc>
              <a:buFont typeface="Arial"/>
              <a:buChar char="•"/>
            </a:pPr>
            <a:r>
              <a:rPr lang="en-US" sz="3403" b="1" spc="299">
                <a:solidFill>
                  <a:srgbClr val="1800AD"/>
                </a:solidFill>
                <a:latin typeface="Glacial Indifference Bold"/>
                <a:ea typeface="Glacial Indifference Bold"/>
                <a:cs typeface="Glacial Indifference Bold"/>
                <a:sym typeface="Glacial Indifference Bold"/>
              </a:rPr>
              <a:t>Total Production Records:</a:t>
            </a:r>
            <a:r>
              <a:rPr lang="en-US" sz="3403" spc="299">
                <a:solidFill>
                  <a:srgbClr val="1800AD"/>
                </a:solidFill>
                <a:latin typeface="Glacial Indifference"/>
                <a:ea typeface="Glacial Indifference"/>
                <a:cs typeface="Glacial Indifference"/>
                <a:sym typeface="Glacial Indifference"/>
              </a:rPr>
              <a:t> 1,542 genuine opportunities across 10 distinct categories. </a:t>
            </a:r>
          </a:p>
          <a:p>
            <a:pPr marL="734923" lvl="1" indent="-367461" algn="just">
              <a:lnSpc>
                <a:spcPts val="4425"/>
              </a:lnSpc>
              <a:buFont typeface="Arial"/>
              <a:buChar char="•"/>
            </a:pPr>
            <a:r>
              <a:rPr lang="en-US" sz="3403" b="1" spc="299">
                <a:solidFill>
                  <a:srgbClr val="1800AD"/>
                </a:solidFill>
                <a:latin typeface="Glacial Indifference Bold"/>
                <a:ea typeface="Glacial Indifference Bold"/>
                <a:cs typeface="Glacial Indifference Bold"/>
                <a:sym typeface="Glacial Indifference Bold"/>
              </a:rPr>
              <a:t>Scholarship Coverage Rate</a:t>
            </a:r>
            <a:r>
              <a:rPr lang="en-US" sz="3403" spc="299">
                <a:solidFill>
                  <a:srgbClr val="1800AD"/>
                </a:solidFill>
                <a:latin typeface="Glacial Indifference"/>
                <a:ea typeface="Glacial Indifference"/>
                <a:cs typeface="Glacial Indifference"/>
                <a:sym typeface="Glacial Indifference"/>
              </a:rPr>
              <a:t>: 74.5% of opportunities (1,148 records) offer a positive micro-scholarship. </a:t>
            </a:r>
          </a:p>
          <a:p>
            <a:pPr marL="734923" lvl="1" indent="-367461" algn="just">
              <a:lnSpc>
                <a:spcPts val="4425"/>
              </a:lnSpc>
              <a:buFont typeface="Arial"/>
              <a:buChar char="•"/>
            </a:pPr>
            <a:r>
              <a:rPr lang="en-US" sz="3403" b="1" spc="299">
                <a:solidFill>
                  <a:srgbClr val="1800AD"/>
                </a:solidFill>
                <a:latin typeface="Glacial Indifference Bold"/>
                <a:ea typeface="Glacial Indifference Bold"/>
                <a:cs typeface="Glacial Indifference Bold"/>
                <a:sym typeface="Glacial Indifference Bold"/>
              </a:rPr>
              <a:t>Dominant Category:</a:t>
            </a:r>
            <a:r>
              <a:rPr lang="en-US" sz="3403" spc="299">
                <a:solidFill>
                  <a:srgbClr val="1800AD"/>
                </a:solidFill>
                <a:latin typeface="Glacial Indifference"/>
                <a:ea typeface="Glacial Indifference"/>
                <a:cs typeface="Glacial Indifference"/>
                <a:sym typeface="Glacial Indifference"/>
              </a:rPr>
              <a:t> Internship accounts for 52.1% of all production opportunities (803 records). </a:t>
            </a:r>
          </a:p>
          <a:p>
            <a:pPr algn="just">
              <a:lnSpc>
                <a:spcPts val="4425"/>
              </a:lnSpc>
            </a:pPr>
            <a:r>
              <a:rPr lang="en-US" sz="3403" b="1" spc="299">
                <a:solidFill>
                  <a:srgbClr val="1800AD"/>
                </a:solidFill>
                <a:latin typeface="Glacial Indifference Bold"/>
                <a:ea typeface="Glacial Indifference Bold"/>
                <a:cs typeface="Glacial Indifference Bold"/>
                <a:sym typeface="Glacial Indifference Bold"/>
              </a:rPr>
              <a:t>Data Completeness &amp; Quality Checks:</a:t>
            </a:r>
          </a:p>
          <a:p>
            <a:pPr marL="734923" lvl="1" indent="-367461" algn="just">
              <a:lnSpc>
                <a:spcPts val="4425"/>
              </a:lnSpc>
              <a:buFont typeface="Arial"/>
              <a:buChar char="•"/>
            </a:pPr>
            <a:r>
              <a:rPr lang="en-US" sz="3403" spc="462">
                <a:solidFill>
                  <a:srgbClr val="1800AD"/>
                </a:solidFill>
                <a:latin typeface="Glacial Indifference"/>
                <a:ea typeface="Glacial Indifference"/>
                <a:cs typeface="Glacial Indifference"/>
                <a:sym typeface="Glacial Indifference"/>
              </a:rPr>
              <a:t>Identified 387 records (25.1%) with unspecified location values. </a:t>
            </a:r>
          </a:p>
          <a:p>
            <a:pPr marL="734923" lvl="1" indent="-367461" algn="just">
              <a:lnSpc>
                <a:spcPts val="4425"/>
              </a:lnSpc>
              <a:buFont typeface="Arial"/>
              <a:buChar char="•"/>
            </a:pPr>
            <a:r>
              <a:rPr lang="en-US" sz="3403" spc="462">
                <a:solidFill>
                  <a:srgbClr val="1800AD"/>
                </a:solidFill>
                <a:latin typeface="Glacial Indifference"/>
                <a:ea typeface="Glacial Indifference"/>
                <a:cs typeface="Glacial Indifference"/>
                <a:sym typeface="Glacial Indifference"/>
              </a:rPr>
              <a:t>Solved statistical skew by utilizing median values over mean averages for fee and scholarship analyses. </a:t>
            </a:r>
          </a:p>
        </p:txBody>
      </p:sp>
      <p:sp>
        <p:nvSpPr>
          <p:cNvPr id="6" name="Freeform 6"/>
          <p:cNvSpPr/>
          <p:nvPr/>
        </p:nvSpPr>
        <p:spPr>
          <a:xfrm>
            <a:off x="14550985" y="1292478"/>
            <a:ext cx="1399522" cy="1291059"/>
          </a:xfrm>
          <a:custGeom>
            <a:avLst/>
            <a:gdLst/>
            <a:ahLst/>
            <a:cxnLst/>
            <a:rect l="l" t="t" r="r" b="b"/>
            <a:pathLst>
              <a:path w="1399522" h="1291059">
                <a:moveTo>
                  <a:pt x="0" y="0"/>
                </a:moveTo>
                <a:lnTo>
                  <a:pt x="1399522" y="0"/>
                </a:lnTo>
                <a:lnTo>
                  <a:pt x="1399522" y="1291059"/>
                </a:lnTo>
                <a:lnTo>
                  <a:pt x="0" y="1291059"/>
                </a:lnTo>
                <a:lnTo>
                  <a:pt x="0" y="0"/>
                </a:lnTo>
                <a:close/>
              </a:path>
            </a:pathLst>
          </a:custGeom>
          <a:blipFill>
            <a:blip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a:blipFill>
        </p:spPr>
      </p:sp>
      <p:sp>
        <p:nvSpPr>
          <p:cNvPr id="7" name="TextBox 7"/>
          <p:cNvSpPr txBox="1"/>
          <p:nvPr/>
        </p:nvSpPr>
        <p:spPr>
          <a:xfrm>
            <a:off x="0" y="9820275"/>
            <a:ext cx="1433389" cy="46672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3600"/>
              </a:lnSpc>
              <a:spcBef>
                <a:spcPct val="0"/>
              </a:spcBef>
            </a:pPr>
            <a:r>
              <a:rPr lang="en-US" sz="3000">
                <a:solidFill>
                  <a:srgbClr val="1800AD"/>
                </a:solidFill>
                <a:latin typeface="Glacial Indifference"/>
                <a:ea typeface="Glacial Indifference"/>
                <a:cs typeface="Glacial Indifference"/>
                <a:sym typeface="Glacial Indifference"/>
              </a:rPr>
              <a:t>Aman 1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eeform 2"/>
          <p:cNvSpPr/>
          <p:nvPr/>
        </p:nvSpPr>
        <p:spPr>
          <a:xfrm rot="-7604635">
            <a:off x="-5124408" y="-4659633"/>
            <a:ext cx="9579213" cy="6549787"/>
          </a:xfrm>
          <a:custGeom>
            <a:avLst/>
            <a:gdLst/>
            <a:ahLst/>
            <a:cxnLst/>
            <a:rect l="l" t="t" r="r" b="b"/>
            <a:pathLst>
              <a:path w="9579213" h="6549787">
                <a:moveTo>
                  <a:pt x="0" y="0"/>
                </a:moveTo>
                <a:lnTo>
                  <a:pt x="9579213" y="0"/>
                </a:lnTo>
                <a:lnTo>
                  <a:pt x="9579213" y="6549787"/>
                </a:lnTo>
                <a:lnTo>
                  <a:pt x="0" y="6549787"/>
                </a:lnTo>
                <a:lnTo>
                  <a:pt x="0" y="0"/>
                </a:lnTo>
                <a:close/>
              </a:path>
            </a:pathLst>
          </a:custGeom>
          <a:blipFill>
            <a:blip>
              <a:extLst>
                <a:ext uri="{96DAC541-7B7A-43D3-8B79-37D633B846F1}">
                  <asvg:svgBlip xmlns:asvg="http://schemas.microsoft.com/office/drawing/2016/SVG/main" r:embed="rId2"/>
                </a:ext>
              </a:extLst>
            </a:blip>
            <a:stretch>
              <a:fillRect/>
            </a:stretch>
          </a:blipFill>
        </p:spPr>
      </p:sp>
      <p:sp>
        <p:nvSpPr>
          <p:cNvPr id="3" name="Freeform 3"/>
          <p:cNvSpPr/>
          <p:nvPr/>
        </p:nvSpPr>
        <p:spPr>
          <a:xfrm rot="9813823">
            <a:off x="12733563" y="7601174"/>
            <a:ext cx="9579213" cy="6549787"/>
          </a:xfrm>
          <a:custGeom>
            <a:avLst/>
            <a:gdLst/>
            <a:ahLst/>
            <a:cxnLst/>
            <a:rect l="l" t="t" r="r" b="b"/>
            <a:pathLst>
              <a:path w="9579213" h="6549787">
                <a:moveTo>
                  <a:pt x="0" y="0"/>
                </a:moveTo>
                <a:lnTo>
                  <a:pt x="9579213" y="0"/>
                </a:lnTo>
                <a:lnTo>
                  <a:pt x="9579213" y="6549786"/>
                </a:lnTo>
                <a:lnTo>
                  <a:pt x="0" y="6549786"/>
                </a:lnTo>
                <a:lnTo>
                  <a:pt x="0" y="0"/>
                </a:lnTo>
                <a:close/>
              </a:path>
            </a:pathLst>
          </a:custGeom>
          <a:blipFill>
            <a:blip>
              <a:extLst>
                <a:ext uri="{96DAC541-7B7A-43D3-8B79-37D633B846F1}">
                  <asvg:svgBlip xmlns:asvg="http://schemas.microsoft.com/office/drawing/2016/SVG/main" r:embed="rId2"/>
                </a:ext>
              </a:extLst>
            </a:blip>
            <a:stretch>
              <a:fillRect/>
            </a:stretch>
          </a:blipFill>
        </p:spPr>
      </p:sp>
      <p:sp>
        <p:nvSpPr>
          <p:cNvPr id="4" name="TextBox 4"/>
          <p:cNvSpPr txBox="1"/>
          <p:nvPr/>
        </p:nvSpPr>
        <p:spPr>
          <a:xfrm>
            <a:off x="3282422" y="1457378"/>
            <a:ext cx="10173416" cy="1877949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7127"/>
              </a:lnSpc>
            </a:pPr>
            <a:r>
              <a:rPr lang="en-US" sz="7199">
                <a:solidFill>
                  <a:srgbClr val="1800AD"/>
                </a:solidFill>
                <a:latin typeface="Bobby Jones Soft"/>
                <a:ea typeface="Bobby Jones Soft"/>
                <a:cs typeface="Bobby Jones Soft"/>
                <a:sym typeface="Bobby Jones Soft"/>
              </a:rPr>
              <a:t>TREND &amp; LOCATION PATTERN </a:t>
            </a:r>
          </a:p>
          <a:p>
            <a:pPr algn="ctr">
              <a:lnSpc>
                <a:spcPts val="7127"/>
              </a:lnSpc>
            </a:pPr>
            <a:r>
              <a:rPr lang="en-US" sz="7199">
                <a:solidFill>
                  <a:srgbClr val="1800AD"/>
                </a:solidFill>
                <a:latin typeface="Bobby Jones Soft"/>
                <a:ea typeface="Bobby Jones Soft"/>
                <a:cs typeface="Bobby Jones Soft"/>
                <a:sym typeface="Bobby Jones Soft"/>
              </a:rPr>
              <a:t>ANALYSIS</a:t>
            </a:r>
          </a:p>
        </p:txBody>
      </p:sp>
      <p:sp>
        <p:nvSpPr>
          <p:cNvPr id="5" name="TextBox 5"/>
          <p:cNvSpPr txBox="1"/>
          <p:nvPr/>
        </p:nvSpPr>
        <p:spPr>
          <a:xfrm>
            <a:off x="588357" y="3655014"/>
            <a:ext cx="16670943" cy="543050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just">
              <a:lnSpc>
                <a:spcPts val="4344"/>
              </a:lnSpc>
            </a:pPr>
            <a:r>
              <a:rPr lang="en-US" sz="3503" b="1" spc="476">
                <a:solidFill>
                  <a:srgbClr val="1800AD"/>
                </a:solidFill>
                <a:latin typeface="Glacial Indifference Bold"/>
                <a:ea typeface="Glacial Indifference Bold"/>
                <a:cs typeface="Glacial Indifference Bold"/>
                <a:sym typeface="Glacial Indifference Bold"/>
              </a:rPr>
              <a:t>Cyclical Creation Peaks:</a:t>
            </a:r>
            <a:r>
              <a:rPr lang="en-US" sz="3503" spc="476">
                <a:solidFill>
                  <a:srgbClr val="1800AD"/>
                </a:solidFill>
                <a:latin typeface="Glacial Indifference"/>
                <a:ea typeface="Glacial Indifference"/>
                <a:cs typeface="Glacial Indifference"/>
                <a:sym typeface="Glacial Indifference"/>
              </a:rPr>
              <a:t> Opportunity creation occurs in scheduled batch cycles rather than continuous publishing:</a:t>
            </a:r>
          </a:p>
          <a:p>
            <a:pPr marL="756512" lvl="1" indent="-378256" algn="just">
              <a:lnSpc>
                <a:spcPts val="4344"/>
              </a:lnSpc>
              <a:buFont typeface="Arial"/>
              <a:buChar char="•"/>
            </a:pPr>
            <a:r>
              <a:rPr lang="en-US" sz="3503" b="1" spc="476">
                <a:solidFill>
                  <a:srgbClr val="1800AD"/>
                </a:solidFill>
                <a:latin typeface="Glacial Indifference Bold"/>
                <a:ea typeface="Glacial Indifference Bold"/>
                <a:cs typeface="Glacial Indifference Bold"/>
                <a:sym typeface="Glacial Indifference Bold"/>
              </a:rPr>
              <a:t>Peak Quarters:</a:t>
            </a:r>
            <a:r>
              <a:rPr lang="en-US" sz="3503" spc="476">
                <a:solidFill>
                  <a:srgbClr val="1800AD"/>
                </a:solidFill>
                <a:latin typeface="Glacial Indifference"/>
                <a:ea typeface="Glacial Indifference"/>
                <a:cs typeface="Glacial Indifference"/>
                <a:sym typeface="Glacial Indifference"/>
              </a:rPr>
              <a:t> Q4 2025 (263 opportunities) and Q1 2023 (228 opportunities). </a:t>
            </a:r>
          </a:p>
          <a:p>
            <a:pPr marL="756512" lvl="1" indent="-378256" algn="just">
              <a:lnSpc>
                <a:spcPts val="4344"/>
              </a:lnSpc>
              <a:buFont typeface="Arial"/>
              <a:buChar char="•"/>
            </a:pPr>
            <a:r>
              <a:rPr lang="en-US" sz="3503" b="1" spc="476">
                <a:solidFill>
                  <a:srgbClr val="1800AD"/>
                </a:solidFill>
                <a:latin typeface="Glacial Indifference Bold"/>
                <a:ea typeface="Glacial Indifference Bold"/>
                <a:cs typeface="Glacial Indifference Bold"/>
                <a:sym typeface="Glacial Indifference Bold"/>
              </a:rPr>
              <a:t>Quiet Quarter:</a:t>
            </a:r>
            <a:r>
              <a:rPr lang="en-US" sz="3503" spc="476">
                <a:solidFill>
                  <a:srgbClr val="1800AD"/>
                </a:solidFill>
                <a:latin typeface="Glacial Indifference"/>
                <a:ea typeface="Glacial Indifference"/>
                <a:cs typeface="Glacial Indifference"/>
                <a:sym typeface="Glacial Indifference"/>
              </a:rPr>
              <a:t> Q4 2024 bottomed out at 34 opportunities. </a:t>
            </a:r>
          </a:p>
          <a:p>
            <a:pPr marL="756512" lvl="1" indent="-378256" algn="just">
              <a:lnSpc>
                <a:spcPts val="4344"/>
              </a:lnSpc>
              <a:buFont typeface="Arial"/>
              <a:buChar char="•"/>
            </a:pPr>
            <a:r>
              <a:rPr lang="en-US" sz="3503" b="1" spc="476">
                <a:solidFill>
                  <a:srgbClr val="1800AD"/>
                </a:solidFill>
                <a:latin typeface="Glacial Indifference Bold"/>
                <a:ea typeface="Glacial Indifference Bold"/>
                <a:cs typeface="Glacial Indifference Bold"/>
                <a:sym typeface="Glacial Indifference Bold"/>
              </a:rPr>
              <a:t>Remote Format Dominance:</a:t>
            </a:r>
            <a:r>
              <a:rPr lang="en-US" sz="3503" spc="476">
                <a:solidFill>
                  <a:srgbClr val="1800AD"/>
                </a:solidFill>
                <a:latin typeface="Glacial Indifference"/>
                <a:ea typeface="Glacial Indifference"/>
                <a:cs typeface="Glacial Indifference"/>
                <a:sym typeface="Glacial Indifference"/>
              </a:rPr>
              <a:t> Remote delivery represents 75% of specified opportunities (Work From Home: 644 | Virtual: 509). </a:t>
            </a:r>
          </a:p>
          <a:p>
            <a:pPr marL="756512" lvl="1" indent="-378256" algn="just">
              <a:lnSpc>
                <a:spcPts val="4344"/>
              </a:lnSpc>
              <a:buFont typeface="Arial"/>
              <a:buChar char="•"/>
            </a:pPr>
            <a:r>
              <a:rPr lang="en-US" sz="3503" b="1" spc="476">
                <a:solidFill>
                  <a:srgbClr val="1800AD"/>
                </a:solidFill>
                <a:latin typeface="Glacial Indifference Bold"/>
                <a:ea typeface="Glacial Indifference Bold"/>
                <a:cs typeface="Glacial Indifference Bold"/>
                <a:sym typeface="Glacial Indifference Bold"/>
              </a:rPr>
              <a:t>Platform-Wide Consistency:</a:t>
            </a:r>
            <a:r>
              <a:rPr lang="en-US" sz="3503" spc="476">
                <a:solidFill>
                  <a:srgbClr val="1800AD"/>
                </a:solidFill>
                <a:latin typeface="Glacial Indifference"/>
                <a:ea typeface="Glacial Indifference"/>
                <a:cs typeface="Glacial Indifference"/>
                <a:sym typeface="Glacial Indifference"/>
              </a:rPr>
              <a:t> Work From Home outnumbers Virtual across every major category (e.g., Internship: 322 vs. 266; Masterclass: 33 vs. 11).</a:t>
            </a:r>
          </a:p>
        </p:txBody>
      </p:sp>
      <p:sp>
        <p:nvSpPr>
          <p:cNvPr id="6" name="Freeform 6"/>
          <p:cNvSpPr/>
          <p:nvPr/>
        </p:nvSpPr>
        <p:spPr>
          <a:xfrm>
            <a:off x="14461313" y="1501955"/>
            <a:ext cx="1849556" cy="1833372"/>
          </a:xfrm>
          <a:custGeom>
            <a:avLst/>
            <a:gdLst/>
            <a:ahLst/>
            <a:cxnLst/>
            <a:rect l="l" t="t" r="r" b="b"/>
            <a:pathLst>
              <a:path w="1849556" h="1833372">
                <a:moveTo>
                  <a:pt x="0" y="0"/>
                </a:moveTo>
                <a:lnTo>
                  <a:pt x="1849556" y="0"/>
                </a:lnTo>
                <a:lnTo>
                  <a:pt x="1849556" y="1833372"/>
                </a:lnTo>
                <a:lnTo>
                  <a:pt x="0" y="1833372"/>
                </a:lnTo>
                <a:lnTo>
                  <a:pt x="0" y="0"/>
                </a:lnTo>
                <a:close/>
              </a:path>
            </a:pathLst>
          </a:custGeom>
          <a:blipFill>
            <a:blip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a:blipFill>
        </p:spPr>
      </p:sp>
      <p:sp>
        <p:nvSpPr>
          <p:cNvPr id="7" name="TextBox 7"/>
          <p:cNvSpPr txBox="1"/>
          <p:nvPr/>
        </p:nvSpPr>
        <p:spPr>
          <a:xfrm>
            <a:off x="0" y="9820275"/>
            <a:ext cx="1433389" cy="46672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3600"/>
              </a:lnSpc>
              <a:spcBef>
                <a:spcPct val="0"/>
              </a:spcBef>
            </a:pPr>
            <a:r>
              <a:rPr lang="en-US" sz="3000">
                <a:solidFill>
                  <a:srgbClr val="1800AD"/>
                </a:solidFill>
                <a:latin typeface="Glacial Indifference"/>
                <a:ea typeface="Glacial Indifference"/>
                <a:cs typeface="Glacial Indifference"/>
                <a:sym typeface="Glacial Indifference"/>
              </a:rPr>
              <a:t>Aman 2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eeform 2"/>
          <p:cNvSpPr/>
          <p:nvPr/>
        </p:nvSpPr>
        <p:spPr>
          <a:xfrm rot="4269580">
            <a:off x="13929732" y="-1316660"/>
            <a:ext cx="9579213" cy="6549787"/>
          </a:xfrm>
          <a:custGeom>
            <a:avLst/>
            <a:gdLst/>
            <a:ahLst/>
            <a:cxnLst/>
            <a:rect l="l" t="t" r="r" b="b"/>
            <a:pathLst>
              <a:path w="9579213" h="6549787">
                <a:moveTo>
                  <a:pt x="0" y="0"/>
                </a:moveTo>
                <a:lnTo>
                  <a:pt x="9579213" y="0"/>
                </a:lnTo>
                <a:lnTo>
                  <a:pt x="9579213" y="6549787"/>
                </a:lnTo>
                <a:lnTo>
                  <a:pt x="0" y="6549787"/>
                </a:lnTo>
                <a:lnTo>
                  <a:pt x="0" y="0"/>
                </a:lnTo>
                <a:close/>
              </a:path>
            </a:pathLst>
          </a:custGeom>
          <a:blipFill>
            <a:blip>
              <a:extLst>
                <a:ext uri="{96DAC541-7B7A-43D3-8B79-37D633B846F1}">
                  <asvg:svgBlip xmlns:asvg="http://schemas.microsoft.com/office/drawing/2016/SVG/main" r:embed="rId2"/>
                </a:ext>
              </a:extLst>
            </a:blip>
            <a:stretch>
              <a:fillRect/>
            </a:stretch>
          </a:blipFill>
        </p:spPr>
      </p:sp>
      <p:sp>
        <p:nvSpPr>
          <p:cNvPr id="3" name="Freeform 3"/>
          <p:cNvSpPr/>
          <p:nvPr/>
        </p:nvSpPr>
        <p:spPr>
          <a:xfrm rot="-8367577">
            <a:off x="-6578285" y="-4466042"/>
            <a:ext cx="9579213" cy="6549787"/>
          </a:xfrm>
          <a:custGeom>
            <a:avLst/>
            <a:gdLst/>
            <a:ahLst/>
            <a:cxnLst/>
            <a:rect l="l" t="t" r="r" b="b"/>
            <a:pathLst>
              <a:path w="9579213" h="6549787">
                <a:moveTo>
                  <a:pt x="0" y="0"/>
                </a:moveTo>
                <a:lnTo>
                  <a:pt x="9579213" y="0"/>
                </a:lnTo>
                <a:lnTo>
                  <a:pt x="9579213" y="6549787"/>
                </a:lnTo>
                <a:lnTo>
                  <a:pt x="0" y="6549787"/>
                </a:lnTo>
                <a:lnTo>
                  <a:pt x="0" y="0"/>
                </a:lnTo>
                <a:close/>
              </a:path>
            </a:pathLst>
          </a:custGeom>
          <a:blipFill>
            <a:blip>
              <a:extLst>
                <a:ext uri="{96DAC541-7B7A-43D3-8B79-37D633B846F1}">
                  <asvg:svgBlip xmlns:asvg="http://schemas.microsoft.com/office/drawing/2016/SVG/main" r:embed="rId2"/>
                </a:ext>
              </a:extLst>
            </a:blip>
            <a:stretch>
              <a:fillRect/>
            </a:stretch>
          </a:blipFill>
        </p:spPr>
      </p:sp>
      <p:sp>
        <p:nvSpPr>
          <p:cNvPr id="4" name="Freeform 4"/>
          <p:cNvSpPr/>
          <p:nvPr/>
        </p:nvSpPr>
        <p:spPr>
          <a:xfrm>
            <a:off x="16502669" y="8709693"/>
            <a:ext cx="1785331" cy="1530922"/>
          </a:xfrm>
          <a:custGeom>
            <a:avLst/>
            <a:gdLst/>
            <a:ahLst/>
            <a:cxnLst/>
            <a:rect l="l" t="t" r="r" b="b"/>
            <a:pathLst>
              <a:path w="1785331" h="1530922">
                <a:moveTo>
                  <a:pt x="0" y="0"/>
                </a:moveTo>
                <a:lnTo>
                  <a:pt x="1785331" y="0"/>
                </a:lnTo>
                <a:lnTo>
                  <a:pt x="1785331" y="1530921"/>
                </a:lnTo>
                <a:lnTo>
                  <a:pt x="0" y="1530921"/>
                </a:lnTo>
                <a:lnTo>
                  <a:pt x="0" y="0"/>
                </a:lnTo>
                <a:close/>
              </a:path>
            </a:pathLst>
          </a:custGeom>
          <a:blipFill>
            <a:blip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a:blipFill>
        </p:spPr>
      </p:sp>
      <p:sp>
        <p:nvSpPr>
          <p:cNvPr id="5" name="TextBox 5"/>
          <p:cNvSpPr txBox="1"/>
          <p:nvPr/>
        </p:nvSpPr>
        <p:spPr>
          <a:xfrm>
            <a:off x="754533" y="2860065"/>
            <a:ext cx="15748136" cy="639823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734923" lvl="1" indent="-367461" algn="just">
              <a:lnSpc>
                <a:spcPts val="4254"/>
              </a:lnSpc>
              <a:buFont typeface="Arial"/>
              <a:buChar char="•"/>
            </a:pPr>
            <a:r>
              <a:rPr lang="en-US" sz="3403" b="1" spc="268">
                <a:solidFill>
                  <a:srgbClr val="1800AD"/>
                </a:solidFill>
                <a:latin typeface="Glacial Indifference Bold"/>
                <a:ea typeface="Glacial Indifference Bold"/>
                <a:cs typeface="Glacial Indifference Bold"/>
                <a:sym typeface="Glacial Indifference Bold"/>
              </a:rPr>
              <a:t>Schema Documentation:</a:t>
            </a:r>
            <a:r>
              <a:rPr lang="en-US" sz="3403" spc="268">
                <a:solidFill>
                  <a:srgbClr val="1800AD"/>
                </a:solidFill>
                <a:latin typeface="Glacial Indifference"/>
                <a:ea typeface="Glacial Indifference"/>
                <a:cs typeface="Glacial Indifference"/>
                <a:sym typeface="Glacial Indifference"/>
              </a:rPr>
              <a:t> Authored a column-by-column reference guide (Team1_Data_Dictionary.xlsx) defining 36 fields, data types and allowed values. </a:t>
            </a:r>
          </a:p>
          <a:p>
            <a:pPr marL="734923" lvl="1" indent="-367461" algn="just">
              <a:lnSpc>
                <a:spcPts val="4254"/>
              </a:lnSpc>
              <a:buFont typeface="Arial"/>
              <a:buChar char="•"/>
            </a:pPr>
            <a:r>
              <a:rPr lang="en-US" sz="3403" b="1" spc="268">
                <a:solidFill>
                  <a:srgbClr val="1800AD"/>
                </a:solidFill>
                <a:latin typeface="Glacial Indifference Bold"/>
                <a:ea typeface="Glacial Indifference Bold"/>
                <a:cs typeface="Glacial Indifference Bold"/>
                <a:sym typeface="Glacial Indifference Bold"/>
              </a:rPr>
              <a:t>Flag Column Definitions:</a:t>
            </a:r>
            <a:r>
              <a:rPr lang="en-US" sz="3403" spc="268">
                <a:solidFill>
                  <a:srgbClr val="1800AD"/>
                </a:solidFill>
                <a:latin typeface="Glacial Indifference"/>
                <a:ea typeface="Glacial Indifference"/>
                <a:cs typeface="Glacial Indifference"/>
                <a:sym typeface="Glacial Indifference"/>
              </a:rPr>
              <a:t> Defined explicit operational rules for is_test_or_placeholder, fee_flag and quality_review_flag to guide downstream analysts. </a:t>
            </a:r>
          </a:p>
          <a:p>
            <a:pPr marL="734923" lvl="1" indent="-367461" algn="just">
              <a:lnSpc>
                <a:spcPts val="4254"/>
              </a:lnSpc>
              <a:buFont typeface="Arial"/>
              <a:buChar char="•"/>
            </a:pPr>
            <a:r>
              <a:rPr lang="en-US" sz="3403" b="1" spc="268">
                <a:solidFill>
                  <a:srgbClr val="1800AD"/>
                </a:solidFill>
                <a:latin typeface="Glacial Indifference Bold"/>
                <a:ea typeface="Glacial Indifference Bold"/>
                <a:cs typeface="Glacial Indifference Bold"/>
                <a:sym typeface="Glacial Indifference Bold"/>
              </a:rPr>
              <a:t>Schema Health Assessment:</a:t>
            </a:r>
          </a:p>
          <a:p>
            <a:pPr marL="734923" lvl="1" indent="-367461" algn="just">
              <a:lnSpc>
                <a:spcPts val="4254"/>
              </a:lnSpc>
              <a:buAutoNum type="arabicPeriod"/>
            </a:pPr>
            <a:r>
              <a:rPr lang="en-US" sz="3403" spc="268">
                <a:solidFill>
                  <a:srgbClr val="1800AD"/>
                </a:solidFill>
                <a:latin typeface="Glacial Indifference"/>
                <a:ea typeface="Glacial Indifference"/>
                <a:cs typeface="Glacial Indifference"/>
                <a:sym typeface="Glacial Indifference"/>
              </a:rPr>
              <a:t>Identified heavily underpopulated fields ($&gt;90\%$ missing), including DropoutTransaction, NotStartedTransaction and current_editor. </a:t>
            </a:r>
          </a:p>
          <a:p>
            <a:pPr marL="734923" lvl="1" indent="-367461" algn="just">
              <a:lnSpc>
                <a:spcPts val="4254"/>
              </a:lnSpc>
              <a:buAutoNum type="arabicPeriod"/>
            </a:pPr>
            <a:r>
              <a:rPr lang="en-US" sz="3403" spc="268">
                <a:solidFill>
                  <a:srgbClr val="1800AD"/>
                </a:solidFill>
                <a:latin typeface="Glacial Indifference"/>
                <a:ea typeface="Glacial Indifference"/>
                <a:cs typeface="Glacial Indifference"/>
                <a:sym typeface="Glacial Indifference"/>
              </a:rPr>
              <a:t>Flagged nested JSON metadata in tracking_questions for dedicated downstream parsing. </a:t>
            </a:r>
          </a:p>
        </p:txBody>
      </p:sp>
      <p:sp>
        <p:nvSpPr>
          <p:cNvPr id="6" name="TextBox 6"/>
          <p:cNvSpPr txBox="1"/>
          <p:nvPr/>
        </p:nvSpPr>
        <p:spPr>
          <a:xfrm>
            <a:off x="3614933" y="900285"/>
            <a:ext cx="9985084" cy="182499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6929"/>
              </a:lnSpc>
            </a:pPr>
            <a:r>
              <a:rPr lang="en-US" sz="6999">
                <a:solidFill>
                  <a:srgbClr val="1800AD"/>
                </a:solidFill>
                <a:latin typeface="Bobby Jones Soft"/>
                <a:ea typeface="Bobby Jones Soft"/>
                <a:cs typeface="Bobby Jones Soft"/>
                <a:sym typeface="Bobby Jones Soft"/>
              </a:rPr>
              <a:t>DATA DICTIONARY &amp; DATA SCHEMA GOVERNANCE</a:t>
            </a:r>
          </a:p>
        </p:txBody>
      </p:sp>
      <p:sp>
        <p:nvSpPr>
          <p:cNvPr id="7" name="TextBox 7"/>
          <p:cNvSpPr txBox="1"/>
          <p:nvPr/>
        </p:nvSpPr>
        <p:spPr>
          <a:xfrm>
            <a:off x="0" y="9820275"/>
            <a:ext cx="1433389" cy="46672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3600"/>
              </a:lnSpc>
              <a:spcBef>
                <a:spcPct val="0"/>
              </a:spcBef>
            </a:pPr>
            <a:r>
              <a:rPr lang="en-US" sz="3000">
                <a:solidFill>
                  <a:srgbClr val="1800AD"/>
                </a:solidFill>
                <a:latin typeface="Glacial Indifference"/>
                <a:ea typeface="Glacial Indifference"/>
                <a:cs typeface="Glacial Indifference"/>
                <a:sym typeface="Glacial Indifference"/>
              </a:rPr>
              <a:t>Fatima 1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eeform 2"/>
          <p:cNvSpPr/>
          <p:nvPr/>
        </p:nvSpPr>
        <p:spPr>
          <a:xfrm rot="-7244167">
            <a:off x="-5181273" y="6698773"/>
            <a:ext cx="9579213" cy="6549787"/>
          </a:xfrm>
          <a:custGeom>
            <a:avLst/>
            <a:gdLst/>
            <a:ahLst/>
            <a:cxnLst/>
            <a:rect l="l" t="t" r="r" b="b"/>
            <a:pathLst>
              <a:path w="9579213" h="6549787">
                <a:moveTo>
                  <a:pt x="0" y="0"/>
                </a:moveTo>
                <a:lnTo>
                  <a:pt x="9579212" y="0"/>
                </a:lnTo>
                <a:lnTo>
                  <a:pt x="9579212" y="6549787"/>
                </a:lnTo>
                <a:lnTo>
                  <a:pt x="0" y="6549787"/>
                </a:lnTo>
                <a:lnTo>
                  <a:pt x="0" y="0"/>
                </a:lnTo>
                <a:close/>
              </a:path>
            </a:pathLst>
          </a:custGeom>
          <a:blipFill>
            <a:blip>
              <a:extLst>
                <a:ext uri="{96DAC541-7B7A-43D3-8B79-37D633B846F1}">
                  <asvg:svgBlip xmlns:asvg="http://schemas.microsoft.com/office/drawing/2016/SVG/main" r:embed="rId2"/>
                </a:ext>
              </a:extLst>
            </a:blip>
            <a:stretch>
              <a:fillRect/>
            </a:stretch>
          </a:blipFill>
        </p:spPr>
      </p:sp>
      <p:sp>
        <p:nvSpPr>
          <p:cNvPr id="3" name="Freeform 3"/>
          <p:cNvSpPr/>
          <p:nvPr/>
        </p:nvSpPr>
        <p:spPr>
          <a:xfrm rot="3680312">
            <a:off x="14130315" y="-2246193"/>
            <a:ext cx="9579213" cy="6549787"/>
          </a:xfrm>
          <a:custGeom>
            <a:avLst/>
            <a:gdLst/>
            <a:ahLst/>
            <a:cxnLst/>
            <a:rect l="l" t="t" r="r" b="b"/>
            <a:pathLst>
              <a:path w="9579213" h="6549787">
                <a:moveTo>
                  <a:pt x="0" y="0"/>
                </a:moveTo>
                <a:lnTo>
                  <a:pt x="9579213" y="0"/>
                </a:lnTo>
                <a:lnTo>
                  <a:pt x="9579213" y="6549786"/>
                </a:lnTo>
                <a:lnTo>
                  <a:pt x="0" y="6549786"/>
                </a:lnTo>
                <a:lnTo>
                  <a:pt x="0" y="0"/>
                </a:lnTo>
                <a:close/>
              </a:path>
            </a:pathLst>
          </a:custGeom>
          <a:blipFill>
            <a:blip>
              <a:extLst>
                <a:ext uri="{96DAC541-7B7A-43D3-8B79-37D633B846F1}">
                  <asvg:svgBlip xmlns:asvg="http://schemas.microsoft.com/office/drawing/2016/SVG/main" r:embed="rId2"/>
                </a:ext>
              </a:extLst>
            </a:blip>
            <a:stretch>
              <a:fillRect/>
            </a:stretch>
          </a:blipFill>
        </p:spPr>
      </p:sp>
      <p:sp>
        <p:nvSpPr>
          <p:cNvPr id="4" name="Freeform 4"/>
          <p:cNvSpPr/>
          <p:nvPr/>
        </p:nvSpPr>
        <p:spPr>
          <a:xfrm>
            <a:off x="315074" y="4457273"/>
            <a:ext cx="1427252" cy="2046240"/>
          </a:xfrm>
          <a:custGeom>
            <a:avLst/>
            <a:gdLst/>
            <a:ahLst/>
            <a:cxnLst/>
            <a:rect l="l" t="t" r="r" b="b"/>
            <a:pathLst>
              <a:path w="1427252" h="2046240">
                <a:moveTo>
                  <a:pt x="0" y="0"/>
                </a:moveTo>
                <a:lnTo>
                  <a:pt x="1427252" y="0"/>
                </a:lnTo>
                <a:lnTo>
                  <a:pt x="1427252" y="2046240"/>
                </a:lnTo>
                <a:lnTo>
                  <a:pt x="0" y="2046240"/>
                </a:lnTo>
                <a:lnTo>
                  <a:pt x="0" y="0"/>
                </a:lnTo>
                <a:close/>
              </a:path>
            </a:pathLst>
          </a:custGeom>
          <a:blipFill>
            <a:blip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a:blipFill>
        </p:spPr>
      </p:sp>
      <p:sp>
        <p:nvSpPr>
          <p:cNvPr id="5" name="TextBox 5"/>
          <p:cNvSpPr txBox="1"/>
          <p:nvPr/>
        </p:nvSpPr>
        <p:spPr>
          <a:xfrm>
            <a:off x="952079" y="880725"/>
            <a:ext cx="12043141" cy="182499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6929"/>
              </a:lnSpc>
            </a:pPr>
            <a:r>
              <a:rPr lang="en-US" sz="6999">
                <a:solidFill>
                  <a:srgbClr val="1800AD"/>
                </a:solidFill>
                <a:latin typeface="Bobby Jones Soft"/>
                <a:ea typeface="Bobby Jones Soft"/>
                <a:cs typeface="Bobby Jones Soft"/>
                <a:sym typeface="Bobby Jones Soft"/>
              </a:rPr>
              <a:t>SCHOLARSHIP DISTRIBUTION &amp; CATEGORY INSIGHTS</a:t>
            </a:r>
          </a:p>
        </p:txBody>
      </p:sp>
      <p:sp>
        <p:nvSpPr>
          <p:cNvPr id="6" name="TextBox 6"/>
          <p:cNvSpPr txBox="1"/>
          <p:nvPr/>
        </p:nvSpPr>
        <p:spPr>
          <a:xfrm>
            <a:off x="1938936" y="2867152"/>
            <a:ext cx="15320364" cy="6391148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just">
              <a:lnSpc>
                <a:spcPts val="4635"/>
              </a:lnSpc>
            </a:pPr>
            <a:r>
              <a:rPr lang="en-US" sz="3799" b="1" spc="284">
                <a:solidFill>
                  <a:srgbClr val="1800AD"/>
                </a:solidFill>
                <a:latin typeface="Glacial Indifference Bold"/>
                <a:ea typeface="Glacial Indifference Bold"/>
                <a:cs typeface="Glacial Indifference Bold"/>
                <a:sym typeface="Glacial Indifference Bold"/>
              </a:rPr>
              <a:t>Volume vs. Value Decoupling:</a:t>
            </a:r>
            <a:r>
              <a:rPr lang="en-US" sz="3799" spc="284">
                <a:solidFill>
                  <a:srgbClr val="1800AD"/>
                </a:solidFill>
                <a:latin typeface="Glacial Indifference"/>
                <a:ea typeface="Glacial Indifference"/>
                <a:cs typeface="Glacial Indifference"/>
                <a:sym typeface="Glacial Indifference"/>
              </a:rPr>
              <a:t> The highest-volume categories do not offer the highest scholarship values:</a:t>
            </a:r>
          </a:p>
          <a:p>
            <a:pPr marL="820417" lvl="1" indent="-410209" algn="just">
              <a:lnSpc>
                <a:spcPts val="4635"/>
              </a:lnSpc>
              <a:buFont typeface="Arial"/>
              <a:buChar char="•"/>
            </a:pPr>
            <a:r>
              <a:rPr lang="en-US" sz="3799" b="1" spc="284">
                <a:solidFill>
                  <a:srgbClr val="1800AD"/>
                </a:solidFill>
                <a:latin typeface="Glacial Indifference Bold"/>
                <a:ea typeface="Glacial Indifference Bold"/>
                <a:cs typeface="Glacial Indifference Bold"/>
                <a:sym typeface="Glacial Indifference Bold"/>
              </a:rPr>
              <a:t>Course:</a:t>
            </a:r>
            <a:r>
              <a:rPr lang="en-US" sz="3799" spc="284">
                <a:solidFill>
                  <a:srgbClr val="1800AD"/>
                </a:solidFill>
                <a:latin typeface="Glacial Indifference"/>
                <a:ea typeface="Glacial Indifference"/>
                <a:cs typeface="Glacial Indifference"/>
                <a:sym typeface="Glacial Indifference"/>
              </a:rPr>
              <a:t> Highest median scholarship (120 units). </a:t>
            </a:r>
          </a:p>
          <a:p>
            <a:pPr marL="820417" lvl="1" indent="-410209" algn="just">
              <a:lnSpc>
                <a:spcPts val="4635"/>
              </a:lnSpc>
              <a:buFont typeface="Arial"/>
              <a:buChar char="•"/>
            </a:pPr>
            <a:r>
              <a:rPr lang="en-US" sz="3799" b="1" spc="284">
                <a:solidFill>
                  <a:srgbClr val="1800AD"/>
                </a:solidFill>
                <a:latin typeface="Glacial Indifference Bold"/>
                <a:ea typeface="Glacial Indifference Bold"/>
                <a:cs typeface="Glacial Indifference Bold"/>
                <a:sym typeface="Glacial Indifference Bold"/>
              </a:rPr>
              <a:t>Competition &amp; Masterclass:</a:t>
            </a:r>
            <a:r>
              <a:rPr lang="en-US" sz="3799" spc="284">
                <a:solidFill>
                  <a:srgbClr val="1800AD"/>
                </a:solidFill>
                <a:latin typeface="Glacial Indifference"/>
                <a:ea typeface="Glacial Indifference"/>
                <a:cs typeface="Glacial Indifference"/>
                <a:sym typeface="Glacial Indifference"/>
              </a:rPr>
              <a:t> High median scholarship (100 units). </a:t>
            </a:r>
          </a:p>
          <a:p>
            <a:pPr marL="820417" lvl="1" indent="-410209" algn="just">
              <a:lnSpc>
                <a:spcPts val="4635"/>
              </a:lnSpc>
              <a:buFont typeface="Arial"/>
              <a:buChar char="•"/>
            </a:pPr>
            <a:r>
              <a:rPr lang="en-US" sz="3799" b="1" spc="284">
                <a:solidFill>
                  <a:srgbClr val="1800AD"/>
                </a:solidFill>
                <a:latin typeface="Glacial Indifference Bold"/>
                <a:ea typeface="Glacial Indifference Bold"/>
                <a:cs typeface="Glacial Indifference Bold"/>
                <a:sym typeface="Glacial Indifference Bold"/>
              </a:rPr>
              <a:t>Internship:</a:t>
            </a:r>
            <a:r>
              <a:rPr lang="en-US" sz="3799" spc="284">
                <a:solidFill>
                  <a:srgbClr val="1800AD"/>
                </a:solidFill>
                <a:latin typeface="Glacial Indifference"/>
                <a:ea typeface="Glacial Indifference"/>
                <a:cs typeface="Glacial Indifference"/>
                <a:sym typeface="Glacial Indifference"/>
              </a:rPr>
              <a:t> Mid-range median scholarship (42 units) despite holding 52.1% of platform volume. </a:t>
            </a:r>
          </a:p>
          <a:p>
            <a:pPr marL="820417" lvl="1" indent="-410209" algn="just">
              <a:lnSpc>
                <a:spcPts val="4635"/>
              </a:lnSpc>
              <a:buFont typeface="Arial"/>
              <a:buChar char="•"/>
            </a:pPr>
            <a:r>
              <a:rPr lang="en-US" sz="3799" b="1" spc="284">
                <a:solidFill>
                  <a:srgbClr val="1800AD"/>
                </a:solidFill>
                <a:latin typeface="Glacial Indifference Bold"/>
                <a:ea typeface="Glacial Indifference Bold"/>
                <a:cs typeface="Glacial Indifference Bold"/>
                <a:sym typeface="Glacial Indifference Bold"/>
              </a:rPr>
              <a:t>JobSimulation:</a:t>
            </a:r>
            <a:r>
              <a:rPr lang="en-US" sz="3799" spc="284">
                <a:solidFill>
                  <a:srgbClr val="1800AD"/>
                </a:solidFill>
                <a:latin typeface="Glacial Indifference"/>
                <a:ea typeface="Glacial Indifference"/>
                <a:cs typeface="Glacial Indifference"/>
                <a:sym typeface="Glacial Indifference"/>
              </a:rPr>
              <a:t> Lowest median scholarship (6 units). </a:t>
            </a:r>
          </a:p>
          <a:p>
            <a:pPr algn="just">
              <a:lnSpc>
                <a:spcPts val="4635"/>
              </a:lnSpc>
            </a:pPr>
            <a:r>
              <a:rPr lang="en-US" sz="3799" b="1" spc="284">
                <a:solidFill>
                  <a:srgbClr val="1800AD"/>
                </a:solidFill>
                <a:latin typeface="Glacial Indifference Bold"/>
                <a:ea typeface="Glacial Indifference Bold"/>
                <a:cs typeface="Glacial Indifference Bold"/>
                <a:sym typeface="Glacial Indifference Bold"/>
              </a:rPr>
              <a:t>Outlier Filtering:</a:t>
            </a:r>
            <a:r>
              <a:rPr lang="en-US" sz="3799" spc="284">
                <a:solidFill>
                  <a:srgbClr val="1800AD"/>
                </a:solidFill>
                <a:latin typeface="Glacial Indifference"/>
                <a:ea typeface="Glacial Indifference"/>
                <a:cs typeface="Glacial Indifference"/>
                <a:sym typeface="Glacial Indifference"/>
              </a:rPr>
              <a:t> Excluded 2 extreme scholarship entries (500M &amp; 10M units) to prevent mean distortion while keeping them flagged for audit. </a:t>
            </a:r>
          </a:p>
        </p:txBody>
      </p:sp>
      <p:sp>
        <p:nvSpPr>
          <p:cNvPr id="7" name="TextBox 7"/>
          <p:cNvSpPr txBox="1"/>
          <p:nvPr/>
        </p:nvSpPr>
        <p:spPr>
          <a:xfrm>
            <a:off x="16542605" y="9820275"/>
            <a:ext cx="1745395" cy="46672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3600"/>
              </a:lnSpc>
              <a:spcBef>
                <a:spcPct val="0"/>
              </a:spcBef>
            </a:pPr>
            <a:r>
              <a:rPr lang="en-US" sz="3000">
                <a:solidFill>
                  <a:srgbClr val="1800AD"/>
                </a:solidFill>
                <a:latin typeface="Glacial Indifference"/>
                <a:ea typeface="Glacial Indifference"/>
                <a:cs typeface="Glacial Indifference"/>
                <a:sym typeface="Glacial Indifference"/>
              </a:rPr>
              <a:t>Fatima 2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eeform 2"/>
          <p:cNvSpPr/>
          <p:nvPr/>
        </p:nvSpPr>
        <p:spPr>
          <a:xfrm rot="-2925812">
            <a:off x="-5470767" y="-3616220"/>
            <a:ext cx="9579213" cy="6549787"/>
          </a:xfrm>
          <a:custGeom>
            <a:avLst/>
            <a:gdLst/>
            <a:ahLst/>
            <a:cxnLst/>
            <a:rect l="l" t="t" r="r" b="b"/>
            <a:pathLst>
              <a:path w="9579213" h="6549787">
                <a:moveTo>
                  <a:pt x="0" y="0"/>
                </a:moveTo>
                <a:lnTo>
                  <a:pt x="9579213" y="0"/>
                </a:lnTo>
                <a:lnTo>
                  <a:pt x="9579213" y="6549787"/>
                </a:lnTo>
                <a:lnTo>
                  <a:pt x="0" y="6549787"/>
                </a:lnTo>
                <a:lnTo>
                  <a:pt x="0" y="0"/>
                </a:lnTo>
                <a:close/>
              </a:path>
            </a:pathLst>
          </a:custGeom>
          <a:blipFill>
            <a:blip>
              <a:extLst>
                <a:ext uri="{96DAC541-7B7A-43D3-8B79-37D633B846F1}">
                  <asvg:svgBlip xmlns:asvg="http://schemas.microsoft.com/office/drawing/2016/SVG/main" r:embed="rId2"/>
                </a:ext>
              </a:extLst>
            </a:blip>
            <a:stretch>
              <a:fillRect/>
            </a:stretch>
          </a:blipFill>
        </p:spPr>
      </p:sp>
      <p:sp>
        <p:nvSpPr>
          <p:cNvPr id="3" name="Freeform 3"/>
          <p:cNvSpPr/>
          <p:nvPr/>
        </p:nvSpPr>
        <p:spPr>
          <a:xfrm rot="9813823">
            <a:off x="12733563" y="7601174"/>
            <a:ext cx="9579213" cy="6549787"/>
          </a:xfrm>
          <a:custGeom>
            <a:avLst/>
            <a:gdLst/>
            <a:ahLst/>
            <a:cxnLst/>
            <a:rect l="l" t="t" r="r" b="b"/>
            <a:pathLst>
              <a:path w="9579213" h="6549787">
                <a:moveTo>
                  <a:pt x="0" y="0"/>
                </a:moveTo>
                <a:lnTo>
                  <a:pt x="9579213" y="0"/>
                </a:lnTo>
                <a:lnTo>
                  <a:pt x="9579213" y="6549786"/>
                </a:lnTo>
                <a:lnTo>
                  <a:pt x="0" y="6549786"/>
                </a:lnTo>
                <a:lnTo>
                  <a:pt x="0" y="0"/>
                </a:lnTo>
                <a:close/>
              </a:path>
            </a:pathLst>
          </a:custGeom>
          <a:blipFill>
            <a:blip>
              <a:extLst>
                <a:ext uri="{96DAC541-7B7A-43D3-8B79-37D633B846F1}">
                  <asvg:svgBlip xmlns:asvg="http://schemas.microsoft.com/office/drawing/2016/SVG/main" r:embed="rId2"/>
                </a:ext>
              </a:extLst>
            </a:blip>
            <a:stretch>
              <a:fillRect/>
            </a:stretch>
          </a:blipFill>
        </p:spPr>
      </p:sp>
      <p:sp>
        <p:nvSpPr>
          <p:cNvPr id="4" name="Freeform 4"/>
          <p:cNvSpPr/>
          <p:nvPr/>
        </p:nvSpPr>
        <p:spPr>
          <a:xfrm>
            <a:off x="15464671" y="1266749"/>
            <a:ext cx="2058499" cy="1680250"/>
          </a:xfrm>
          <a:custGeom>
            <a:avLst/>
            <a:gdLst/>
            <a:ahLst/>
            <a:cxnLst/>
            <a:rect l="l" t="t" r="r" b="b"/>
            <a:pathLst>
              <a:path w="2058499" h="1680250">
                <a:moveTo>
                  <a:pt x="0" y="0"/>
                </a:moveTo>
                <a:lnTo>
                  <a:pt x="2058499" y="0"/>
                </a:lnTo>
                <a:lnTo>
                  <a:pt x="2058499" y="1680249"/>
                </a:lnTo>
                <a:lnTo>
                  <a:pt x="0" y="1680249"/>
                </a:lnTo>
                <a:lnTo>
                  <a:pt x="0" y="0"/>
                </a:lnTo>
                <a:close/>
              </a:path>
            </a:pathLst>
          </a:custGeom>
          <a:blipFill>
            <a:blip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a:blipFill>
        </p:spPr>
      </p:sp>
      <p:sp>
        <p:nvSpPr>
          <p:cNvPr id="5" name="TextBox 5"/>
          <p:cNvSpPr txBox="1"/>
          <p:nvPr/>
        </p:nvSpPr>
        <p:spPr>
          <a:xfrm>
            <a:off x="1028700" y="3407988"/>
            <a:ext cx="16230600" cy="594360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just">
              <a:lnSpc>
                <a:spcPts val="3960"/>
              </a:lnSpc>
            </a:pPr>
            <a:r>
              <a:rPr lang="en-US" sz="3300" b="1" spc="260">
                <a:solidFill>
                  <a:srgbClr val="1800AD"/>
                </a:solidFill>
                <a:latin typeface="Glacial Indifference Bold"/>
                <a:ea typeface="Glacial Indifference Bold"/>
                <a:cs typeface="Glacial Indifference Bold"/>
                <a:sym typeface="Glacial Indifference Bold"/>
              </a:rPr>
              <a:t>Interactive Power BI Engine:</a:t>
            </a:r>
            <a:r>
              <a:rPr lang="en-US" sz="3300" spc="260">
                <a:solidFill>
                  <a:srgbClr val="1800AD"/>
                </a:solidFill>
                <a:latin typeface="Glacial Indifference"/>
                <a:ea typeface="Glacial Indifference"/>
                <a:cs typeface="Glacial Indifference"/>
                <a:sym typeface="Glacial Indifference"/>
              </a:rPr>
              <a:t> </a:t>
            </a:r>
          </a:p>
          <a:p>
            <a:pPr algn="just">
              <a:lnSpc>
                <a:spcPts val="3960"/>
              </a:lnSpc>
            </a:pPr>
            <a:r>
              <a:rPr lang="en-US" sz="3300" spc="260">
                <a:solidFill>
                  <a:srgbClr val="1800AD"/>
                </a:solidFill>
                <a:latin typeface="Glacial Indifference"/>
                <a:ea typeface="Glacial Indifference"/>
                <a:cs typeface="Glacial Indifference"/>
                <a:sym typeface="Glacial Indifference"/>
              </a:rPr>
              <a:t>Integrated Week 1 cleaned data and Week 2 EDA into a dynamic dashboard equipped with Category, Quarter, Location and Scholarship slicers. </a:t>
            </a:r>
          </a:p>
          <a:p>
            <a:pPr algn="just">
              <a:lnSpc>
                <a:spcPts val="3960"/>
              </a:lnSpc>
            </a:pPr>
            <a:r>
              <a:rPr lang="en-US" sz="3300" b="1" spc="260">
                <a:solidFill>
                  <a:srgbClr val="1800AD"/>
                </a:solidFill>
                <a:latin typeface="Glacial Indifference Bold"/>
                <a:ea typeface="Glacial Indifference Bold"/>
                <a:cs typeface="Glacial Indifference Bold"/>
                <a:sym typeface="Glacial Indifference Bold"/>
              </a:rPr>
              <a:t>Core Visual Highlights:</a:t>
            </a:r>
          </a:p>
          <a:p>
            <a:pPr marL="712470" lvl="1" indent="-356235" algn="just">
              <a:lnSpc>
                <a:spcPts val="3960"/>
              </a:lnSpc>
              <a:buFont typeface="Arial"/>
              <a:buChar char="•"/>
            </a:pPr>
            <a:r>
              <a:rPr lang="en-US" sz="3300" spc="260">
                <a:solidFill>
                  <a:srgbClr val="1800AD"/>
                </a:solidFill>
                <a:latin typeface="Glacial Indifference"/>
                <a:ea typeface="Glacial Indifference"/>
                <a:cs typeface="Glacial Indifference"/>
                <a:sym typeface="Glacial Indifference"/>
              </a:rPr>
              <a:t>5 KPI Cards summarizing overall platform health and temporal extremes. </a:t>
            </a:r>
          </a:p>
          <a:p>
            <a:pPr marL="712470" lvl="1" indent="-356235" algn="just">
              <a:lnSpc>
                <a:spcPts val="3960"/>
              </a:lnSpc>
              <a:buFont typeface="Arial"/>
              <a:buChar char="•"/>
            </a:pPr>
            <a:r>
              <a:rPr lang="en-US" sz="3300" spc="260">
                <a:solidFill>
                  <a:srgbClr val="1800AD"/>
                </a:solidFill>
                <a:latin typeface="Glacial Indifference"/>
                <a:ea typeface="Glacial Indifference"/>
                <a:cs typeface="Glacial Indifference"/>
                <a:sym typeface="Glacial Indifference"/>
              </a:rPr>
              <a:t>6 Core Charts evaluating location distribution, temporal spikes, scholarship eligibility ratios and category cross-tabulations. </a:t>
            </a:r>
          </a:p>
          <a:p>
            <a:pPr algn="just">
              <a:lnSpc>
                <a:spcPts val="3960"/>
              </a:lnSpc>
            </a:pPr>
            <a:r>
              <a:rPr lang="en-US" sz="3300" b="1" spc="260">
                <a:solidFill>
                  <a:srgbClr val="1800AD"/>
                </a:solidFill>
                <a:latin typeface="Glacial Indifference Bold"/>
                <a:ea typeface="Glacial Indifference Bold"/>
                <a:cs typeface="Glacial Indifference Bold"/>
                <a:sym typeface="Glacial Indifference Bold"/>
              </a:rPr>
              <a:t>Validated Business Insights:</a:t>
            </a:r>
          </a:p>
          <a:p>
            <a:pPr marL="712470" lvl="1" indent="-356235" algn="just">
              <a:lnSpc>
                <a:spcPts val="3960"/>
              </a:lnSpc>
              <a:buFont typeface="Arial"/>
              <a:buChar char="•"/>
            </a:pPr>
            <a:r>
              <a:rPr lang="en-US" sz="3300" spc="260">
                <a:solidFill>
                  <a:srgbClr val="1800AD"/>
                </a:solidFill>
                <a:latin typeface="Glacial Indifference"/>
                <a:ea typeface="Glacial Indifference"/>
                <a:cs typeface="Glacial Indifference"/>
                <a:sym typeface="Glacial Indifference"/>
              </a:rPr>
              <a:t>Stable ~3:1 scholarship eligibility ratio across all major categories, indicating platform wide policy application. </a:t>
            </a:r>
          </a:p>
          <a:p>
            <a:pPr marL="712470" lvl="1" indent="-356235" algn="just">
              <a:lnSpc>
                <a:spcPts val="3960"/>
              </a:lnSpc>
              <a:spcBef>
                <a:spcPct val="0"/>
              </a:spcBef>
              <a:buFont typeface="Arial"/>
              <a:buChar char="•"/>
            </a:pPr>
            <a:r>
              <a:rPr lang="en-US" sz="3300" b="1" spc="260">
                <a:solidFill>
                  <a:srgbClr val="1800AD"/>
                </a:solidFill>
                <a:latin typeface="Glacial Indifference Bold"/>
                <a:ea typeface="Glacial Indifference Bold"/>
                <a:cs typeface="Glacial Indifference Bold"/>
                <a:sym typeface="Glacial Indifference Bold"/>
              </a:rPr>
              <a:t>Heavy concentration risk:</a:t>
            </a:r>
            <a:r>
              <a:rPr lang="en-US" sz="3300" spc="260">
                <a:solidFill>
                  <a:srgbClr val="1800AD"/>
                </a:solidFill>
                <a:latin typeface="Glacial Indifference"/>
                <a:ea typeface="Glacial Indifference"/>
                <a:cs typeface="Glacial Indifference"/>
                <a:sym typeface="Glacial Indifference"/>
              </a:rPr>
              <a:t> Internship metrics heavily influence overall platform totals.</a:t>
            </a:r>
          </a:p>
        </p:txBody>
      </p:sp>
      <p:sp>
        <p:nvSpPr>
          <p:cNvPr id="6" name="TextBox 6"/>
          <p:cNvSpPr txBox="1"/>
          <p:nvPr/>
        </p:nvSpPr>
        <p:spPr>
          <a:xfrm>
            <a:off x="1979844" y="901008"/>
            <a:ext cx="13484826" cy="232219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5940"/>
              </a:lnSpc>
            </a:pPr>
            <a:r>
              <a:rPr lang="en-US" sz="6000">
                <a:solidFill>
                  <a:srgbClr val="1800AD"/>
                </a:solidFill>
                <a:latin typeface="Bobby Jones Soft"/>
                <a:ea typeface="Bobby Jones Soft"/>
                <a:cs typeface="Bobby Jones Soft"/>
                <a:sym typeface="Bobby Jones Soft"/>
              </a:rPr>
              <a:t> POWER BI DASHBOARD ARCHITECTURE &amp;</a:t>
            </a:r>
          </a:p>
          <a:p>
            <a:pPr algn="ctr">
              <a:lnSpc>
                <a:spcPts val="5940"/>
              </a:lnSpc>
            </a:pPr>
            <a:r>
              <a:rPr lang="en-US" sz="6000">
                <a:solidFill>
                  <a:srgbClr val="1800AD"/>
                </a:solidFill>
                <a:latin typeface="Bobby Jones Soft"/>
                <a:ea typeface="Bobby Jones Soft"/>
                <a:cs typeface="Bobby Jones Soft"/>
                <a:sym typeface="Bobby Jones Soft"/>
              </a:rPr>
              <a:t> KEY FINDINGSGRAPHS AS VISUAL COMMUNICATION</a:t>
            </a:r>
          </a:p>
        </p:txBody>
      </p:sp>
      <p:sp>
        <p:nvSpPr>
          <p:cNvPr id="7" name="TextBox 7"/>
          <p:cNvSpPr txBox="1"/>
          <p:nvPr/>
        </p:nvSpPr>
        <p:spPr>
          <a:xfrm>
            <a:off x="0" y="9820275"/>
            <a:ext cx="1979844" cy="46672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3600"/>
              </a:lnSpc>
              <a:spcBef>
                <a:spcPct val="0"/>
              </a:spcBef>
            </a:pPr>
            <a:r>
              <a:rPr lang="en-US" sz="3000">
                <a:solidFill>
                  <a:srgbClr val="1800AD"/>
                </a:solidFill>
                <a:latin typeface="Glacial Indifference"/>
                <a:ea typeface="Glacial Indifference"/>
                <a:cs typeface="Glacial Indifference"/>
                <a:sym typeface="Glacial Indifference"/>
              </a:rPr>
              <a:t>Abiodun 1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eeform 2"/>
          <p:cNvSpPr/>
          <p:nvPr/>
        </p:nvSpPr>
        <p:spPr>
          <a:xfrm rot="4269580">
            <a:off x="14572591" y="-1627786"/>
            <a:ext cx="9579213" cy="6549787"/>
          </a:xfrm>
          <a:custGeom>
            <a:avLst/>
            <a:gdLst/>
            <a:ahLst/>
            <a:cxnLst/>
            <a:rect l="l" t="t" r="r" b="b"/>
            <a:pathLst>
              <a:path w="9579213" h="6549787">
                <a:moveTo>
                  <a:pt x="0" y="0"/>
                </a:moveTo>
                <a:lnTo>
                  <a:pt x="9579212" y="0"/>
                </a:lnTo>
                <a:lnTo>
                  <a:pt x="9579212" y="6549786"/>
                </a:lnTo>
                <a:lnTo>
                  <a:pt x="0" y="6549786"/>
                </a:lnTo>
                <a:lnTo>
                  <a:pt x="0" y="0"/>
                </a:lnTo>
                <a:close/>
              </a:path>
            </a:pathLst>
          </a:custGeom>
          <a:blipFill>
            <a:blip>
              <a:extLst>
                <a:ext uri="{96DAC541-7B7A-43D3-8B79-37D633B846F1}">
                  <asvg:svgBlip xmlns:asvg="http://schemas.microsoft.com/office/drawing/2016/SVG/main" r:embed="rId2"/>
                </a:ext>
              </a:extLst>
            </a:blip>
            <a:stretch>
              <a:fillRect/>
            </a:stretch>
          </a:blipFill>
        </p:spPr>
      </p:sp>
      <p:sp>
        <p:nvSpPr>
          <p:cNvPr id="3" name="Freeform 3"/>
          <p:cNvSpPr/>
          <p:nvPr/>
        </p:nvSpPr>
        <p:spPr>
          <a:xfrm rot="-4078806">
            <a:off x="-4752265" y="-1883386"/>
            <a:ext cx="7526813" cy="5146458"/>
          </a:xfrm>
          <a:custGeom>
            <a:avLst/>
            <a:gdLst/>
            <a:ahLst/>
            <a:cxnLst/>
            <a:rect l="l" t="t" r="r" b="b"/>
            <a:pathLst>
              <a:path w="7526813" h="5146458">
                <a:moveTo>
                  <a:pt x="0" y="0"/>
                </a:moveTo>
                <a:lnTo>
                  <a:pt x="7526813" y="0"/>
                </a:lnTo>
                <a:lnTo>
                  <a:pt x="7526813" y="5146458"/>
                </a:lnTo>
                <a:lnTo>
                  <a:pt x="0" y="5146458"/>
                </a:lnTo>
                <a:lnTo>
                  <a:pt x="0" y="0"/>
                </a:lnTo>
                <a:close/>
              </a:path>
            </a:pathLst>
          </a:custGeom>
          <a:blipFill>
            <a:blip>
              <a:extLst>
                <a:ext uri="{96DAC541-7B7A-43D3-8B79-37D633B846F1}">
                  <asvg:svgBlip xmlns:asvg="http://schemas.microsoft.com/office/drawing/2016/SVG/main" r:embed="rId2"/>
                </a:ext>
              </a:extLst>
            </a:blip>
            <a:stretch>
              <a:fillRect/>
            </a:stretch>
          </a:blipFill>
        </p:spPr>
      </p:sp>
      <p:sp>
        <p:nvSpPr>
          <p:cNvPr id="4" name="Freeform 4"/>
          <p:cNvSpPr/>
          <p:nvPr/>
        </p:nvSpPr>
        <p:spPr>
          <a:xfrm>
            <a:off x="13593702" y="1028700"/>
            <a:ext cx="1454944" cy="1790700"/>
          </a:xfrm>
          <a:custGeom>
            <a:avLst/>
            <a:gdLst/>
            <a:ahLst/>
            <a:cxnLst/>
            <a:rect l="l" t="t" r="r" b="b"/>
            <a:pathLst>
              <a:path w="1454944" h="1790700">
                <a:moveTo>
                  <a:pt x="0" y="0"/>
                </a:moveTo>
                <a:lnTo>
                  <a:pt x="1454944" y="0"/>
                </a:lnTo>
                <a:lnTo>
                  <a:pt x="1454944" y="1790700"/>
                </a:lnTo>
                <a:lnTo>
                  <a:pt x="0" y="1790700"/>
                </a:lnTo>
                <a:lnTo>
                  <a:pt x="0" y="0"/>
                </a:lnTo>
                <a:close/>
              </a:path>
            </a:pathLst>
          </a:custGeom>
          <a:blipFill>
            <a:blip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a:blipFill>
        </p:spPr>
      </p:sp>
      <p:sp>
        <p:nvSpPr>
          <p:cNvPr id="5" name="TextBox 5"/>
          <p:cNvSpPr txBox="1"/>
          <p:nvPr/>
        </p:nvSpPr>
        <p:spPr>
          <a:xfrm>
            <a:off x="1028700" y="2819400"/>
            <a:ext cx="16456033" cy="668655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just">
              <a:lnSpc>
                <a:spcPts val="4079"/>
              </a:lnSpc>
            </a:pPr>
            <a:r>
              <a:rPr lang="en-US" sz="3399" b="1" spc="254">
                <a:solidFill>
                  <a:srgbClr val="1800AD"/>
                </a:solidFill>
                <a:latin typeface="Glacial Indifference Bold"/>
                <a:ea typeface="Glacial Indifference Bold"/>
                <a:cs typeface="Glacial Indifference Bold"/>
                <a:sym typeface="Glacial Indifference Bold"/>
              </a:rPr>
              <a:t>Transparent Gap Disclosure:</a:t>
            </a:r>
          </a:p>
          <a:p>
            <a:pPr marL="734059" lvl="1" indent="-367030" algn="just">
              <a:lnSpc>
                <a:spcPts val="4079"/>
              </a:lnSpc>
              <a:buFont typeface="Arial"/>
              <a:buChar char="•"/>
            </a:pPr>
            <a:r>
              <a:rPr lang="en-US" sz="3399" b="1" spc="254">
                <a:solidFill>
                  <a:srgbClr val="1800AD"/>
                </a:solidFill>
                <a:latin typeface="Glacial Indifference Bold"/>
                <a:ea typeface="Glacial Indifference Bold"/>
                <a:cs typeface="Glacial Indifference Bold"/>
                <a:sym typeface="Glacial Indifference Bold"/>
              </a:rPr>
              <a:t>Outreach Channels:</a:t>
            </a:r>
            <a:r>
              <a:rPr lang="en-US" sz="3399" spc="254">
                <a:solidFill>
                  <a:srgbClr val="1800AD"/>
                </a:solidFill>
                <a:latin typeface="Glacial Indifference"/>
                <a:ea typeface="Glacial Indifference"/>
                <a:cs typeface="Glacial Indifference"/>
                <a:sym typeface="Glacial Indifference"/>
              </a:rPr>
              <a:t> Explicitly disclosed on the dashboard that channel performance could not be analyzed due to a missing source/channel field. </a:t>
            </a:r>
          </a:p>
          <a:p>
            <a:pPr algn="just">
              <a:lnSpc>
                <a:spcPts val="4079"/>
              </a:lnSpc>
            </a:pPr>
            <a:r>
              <a:rPr lang="en-US" sz="3399" b="1" spc="254">
                <a:solidFill>
                  <a:srgbClr val="1800AD"/>
                </a:solidFill>
                <a:latin typeface="Glacial Indifference Bold"/>
                <a:ea typeface="Glacial Indifference Bold"/>
                <a:cs typeface="Glacial Indifference Bold"/>
                <a:sym typeface="Glacial Indifference Bold"/>
              </a:rPr>
              <a:t>Actionable Next Steps:</a:t>
            </a:r>
          </a:p>
          <a:p>
            <a:pPr marL="734059" lvl="1" indent="-367030" algn="just">
              <a:lnSpc>
                <a:spcPts val="4079"/>
              </a:lnSpc>
              <a:buAutoNum type="arabicPeriod"/>
            </a:pPr>
            <a:r>
              <a:rPr lang="en-US" sz="3399" b="1" spc="254">
                <a:solidFill>
                  <a:srgbClr val="1800AD"/>
                </a:solidFill>
                <a:latin typeface="Glacial Indifference Bold"/>
                <a:ea typeface="Glacial Indifference Bold"/>
                <a:cs typeface="Glacial Indifference Bold"/>
                <a:sym typeface="Glacial Indifference Bold"/>
              </a:rPr>
              <a:t>Data Schema Request</a:t>
            </a:r>
            <a:r>
              <a:rPr lang="en-US" sz="3399" spc="254">
                <a:solidFill>
                  <a:srgbClr val="1800AD"/>
                </a:solidFill>
                <a:latin typeface="Glacial Indifference"/>
                <a:ea typeface="Glacial Indifference"/>
                <a:cs typeface="Glacial Indifference"/>
                <a:sym typeface="Glacial Indifference"/>
              </a:rPr>
              <a:t>: Request the data owner add discovery channel fields and application-level records. </a:t>
            </a:r>
          </a:p>
          <a:p>
            <a:pPr marL="734059" lvl="1" indent="-367030" algn="just">
              <a:lnSpc>
                <a:spcPts val="4079"/>
              </a:lnSpc>
              <a:buAutoNum type="arabicPeriod"/>
            </a:pPr>
            <a:r>
              <a:rPr lang="en-US" sz="3399" b="1" spc="254">
                <a:solidFill>
                  <a:srgbClr val="1800AD"/>
                </a:solidFill>
                <a:latin typeface="Glacial Indifference Bold"/>
                <a:ea typeface="Glacial Indifference Bold"/>
                <a:cs typeface="Glacial Indifference Bold"/>
                <a:sym typeface="Glacial Indifference Bold"/>
              </a:rPr>
              <a:t>Data Hygiene:</a:t>
            </a:r>
            <a:r>
              <a:rPr lang="en-US" sz="3399" spc="254">
                <a:solidFill>
                  <a:srgbClr val="1800AD"/>
                </a:solidFill>
                <a:latin typeface="Glacial Indifference"/>
                <a:ea typeface="Glacial Indifference"/>
                <a:cs typeface="Glacial Indifference"/>
                <a:sym typeface="Glacial Indifference"/>
              </a:rPr>
              <a:t> Remediate the 387 unspecified location fields before executing regional planning. </a:t>
            </a:r>
          </a:p>
          <a:p>
            <a:pPr marL="734059" lvl="1" indent="-367030" algn="just">
              <a:lnSpc>
                <a:spcPts val="4079"/>
              </a:lnSpc>
              <a:buAutoNum type="arabicPeriod"/>
            </a:pPr>
            <a:r>
              <a:rPr lang="en-US" sz="3399" b="1" spc="254">
                <a:solidFill>
                  <a:srgbClr val="1800AD"/>
                </a:solidFill>
                <a:latin typeface="Glacial Indifference Bold"/>
                <a:ea typeface="Glacial Indifference Bold"/>
                <a:cs typeface="Glacial Indifference Bold"/>
                <a:sym typeface="Glacial Indifference Bold"/>
              </a:rPr>
              <a:t>Financial Standardization</a:t>
            </a:r>
            <a:r>
              <a:rPr lang="en-US" sz="3399" spc="254">
                <a:solidFill>
                  <a:srgbClr val="1800AD"/>
                </a:solidFill>
                <a:latin typeface="Glacial Indifference"/>
                <a:ea typeface="Glacial Indifference"/>
                <a:cs typeface="Glacial Indifference"/>
                <a:sym typeface="Glacial Indifference"/>
              </a:rPr>
              <a:t>: Confirm currency denominations for micro-scholarship fields to enable accurate multi-currency funding decisions. </a:t>
            </a:r>
          </a:p>
          <a:p>
            <a:pPr marL="734059" lvl="1" indent="-367030" algn="just">
              <a:lnSpc>
                <a:spcPts val="4079"/>
              </a:lnSpc>
              <a:spcBef>
                <a:spcPct val="0"/>
              </a:spcBef>
              <a:buAutoNum type="arabicPeriod"/>
            </a:pPr>
            <a:r>
              <a:rPr lang="en-US" sz="3399" b="1" spc="254">
                <a:solidFill>
                  <a:srgbClr val="1800AD"/>
                </a:solidFill>
                <a:latin typeface="Glacial Indifference Bold"/>
                <a:ea typeface="Glacial Indifference Bold"/>
                <a:cs typeface="Glacial Indifference Bold"/>
                <a:sym typeface="Glacial Indifference Bold"/>
              </a:rPr>
              <a:t>Process Review:</a:t>
            </a:r>
            <a:r>
              <a:rPr lang="en-US" sz="3399" spc="254">
                <a:solidFill>
                  <a:srgbClr val="1800AD"/>
                </a:solidFill>
                <a:latin typeface="Glacial Indifference"/>
                <a:ea typeface="Glacial Indifference"/>
                <a:cs typeface="Glacial Indifference"/>
                <a:sym typeface="Glacial Indifference"/>
              </a:rPr>
              <a:t> Investigate creation batch spikes (Q1 2023 / Q4 2025) to align future program publishing schedules. </a:t>
            </a:r>
          </a:p>
        </p:txBody>
      </p:sp>
      <p:sp>
        <p:nvSpPr>
          <p:cNvPr id="6" name="TextBox 6"/>
          <p:cNvSpPr txBox="1"/>
          <p:nvPr/>
        </p:nvSpPr>
        <p:spPr>
          <a:xfrm>
            <a:off x="1028700" y="1123950"/>
            <a:ext cx="11988035" cy="156972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5940"/>
              </a:lnSpc>
            </a:pPr>
            <a:r>
              <a:rPr lang="en-US" sz="6000">
                <a:solidFill>
                  <a:srgbClr val="1800AD"/>
                </a:solidFill>
                <a:latin typeface="Bobby Jones Soft"/>
                <a:ea typeface="Bobby Jones Soft"/>
                <a:cs typeface="Bobby Jones Soft"/>
                <a:sym typeface="Bobby Jones Soft"/>
              </a:rPr>
              <a:t> DISCLOSED DATA GAPS &amp; STRATEGIC</a:t>
            </a:r>
          </a:p>
          <a:p>
            <a:pPr algn="ctr">
              <a:lnSpc>
                <a:spcPts val="5940"/>
              </a:lnSpc>
            </a:pPr>
            <a:r>
              <a:rPr lang="en-US" sz="6000">
                <a:solidFill>
                  <a:srgbClr val="1800AD"/>
                </a:solidFill>
                <a:latin typeface="Bobby Jones Soft"/>
                <a:ea typeface="Bobby Jones Soft"/>
                <a:cs typeface="Bobby Jones Soft"/>
                <a:sym typeface="Bobby Jones Soft"/>
              </a:rPr>
              <a:t> RECOMMENDATIONS</a:t>
            </a:r>
          </a:p>
        </p:txBody>
      </p:sp>
      <p:sp>
        <p:nvSpPr>
          <p:cNvPr id="7" name="TextBox 7"/>
          <p:cNvSpPr txBox="1"/>
          <p:nvPr/>
        </p:nvSpPr>
        <p:spPr>
          <a:xfrm>
            <a:off x="0" y="9820275"/>
            <a:ext cx="1979844" cy="46672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3600"/>
              </a:lnSpc>
              <a:spcBef>
                <a:spcPct val="0"/>
              </a:spcBef>
            </a:pPr>
            <a:r>
              <a:rPr lang="en-US" sz="3000">
                <a:solidFill>
                  <a:srgbClr val="1800AD"/>
                </a:solidFill>
                <a:latin typeface="Glacial Indifference"/>
                <a:ea typeface="Glacial Indifference"/>
                <a:cs typeface="Glacial Indifference"/>
                <a:sym typeface="Glacial Indifference"/>
              </a:rPr>
              <a:t>Abiodun 2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eeform 2"/>
          <p:cNvSpPr/>
          <p:nvPr/>
        </p:nvSpPr>
        <p:spPr>
          <a:xfrm rot="4269580">
            <a:off x="12973211" y="-1009257"/>
            <a:ext cx="9579213" cy="6549787"/>
          </a:xfrm>
          <a:custGeom>
            <a:avLst/>
            <a:gdLst/>
            <a:ahLst/>
            <a:cxnLst/>
            <a:rect l="l" t="t" r="r" b="b"/>
            <a:pathLst>
              <a:path w="9579213" h="6549787">
                <a:moveTo>
                  <a:pt x="0" y="0"/>
                </a:moveTo>
                <a:lnTo>
                  <a:pt x="9579213" y="0"/>
                </a:lnTo>
                <a:lnTo>
                  <a:pt x="9579213" y="6549787"/>
                </a:lnTo>
                <a:lnTo>
                  <a:pt x="0" y="6549787"/>
                </a:lnTo>
                <a:lnTo>
                  <a:pt x="0" y="0"/>
                </a:lnTo>
                <a:close/>
              </a:path>
            </a:pathLst>
          </a:custGeom>
          <a:blipFill>
            <a:blip>
              <a:extLst>
                <a:ext uri="{96DAC541-7B7A-43D3-8B79-37D633B846F1}">
                  <asvg:svgBlip xmlns:asvg="http://schemas.microsoft.com/office/drawing/2016/SVG/main" r:embed="rId2"/>
                </a:ext>
              </a:extLst>
            </a:blip>
            <a:stretch>
              <a:fillRect/>
            </a:stretch>
          </a:blipFill>
        </p:spPr>
      </p:sp>
      <p:sp>
        <p:nvSpPr>
          <p:cNvPr id="3" name="Freeform 3"/>
          <p:cNvSpPr/>
          <p:nvPr/>
        </p:nvSpPr>
        <p:spPr>
          <a:xfrm rot="-7604635">
            <a:off x="-6202570" y="-3748768"/>
            <a:ext cx="9579213" cy="6549787"/>
          </a:xfrm>
          <a:custGeom>
            <a:avLst/>
            <a:gdLst/>
            <a:ahLst/>
            <a:cxnLst/>
            <a:rect l="l" t="t" r="r" b="b"/>
            <a:pathLst>
              <a:path w="9579213" h="6549787">
                <a:moveTo>
                  <a:pt x="0" y="0"/>
                </a:moveTo>
                <a:lnTo>
                  <a:pt x="9579213" y="0"/>
                </a:lnTo>
                <a:lnTo>
                  <a:pt x="9579213" y="6549787"/>
                </a:lnTo>
                <a:lnTo>
                  <a:pt x="0" y="6549787"/>
                </a:lnTo>
                <a:lnTo>
                  <a:pt x="0" y="0"/>
                </a:lnTo>
                <a:close/>
              </a:path>
            </a:pathLst>
          </a:custGeom>
          <a:blipFill>
            <a:blip>
              <a:extLst>
                <a:ext uri="{96DAC541-7B7A-43D3-8B79-37D633B846F1}">
                  <asvg:svgBlip xmlns:asvg="http://schemas.microsoft.com/office/drawing/2016/SVG/main" r:embed="rId2"/>
                </a:ext>
              </a:extLst>
            </a:blip>
            <a:stretch>
              <a:fillRect/>
            </a:stretch>
          </a:blipFill>
        </p:spPr>
      </p:sp>
      <p:sp>
        <p:nvSpPr>
          <p:cNvPr id="4" name="Freeform 4"/>
          <p:cNvSpPr/>
          <p:nvPr/>
        </p:nvSpPr>
        <p:spPr>
          <a:xfrm>
            <a:off x="14189124" y="6180360"/>
            <a:ext cx="2723231" cy="3351669"/>
          </a:xfrm>
          <a:custGeom>
            <a:avLst/>
            <a:gdLst/>
            <a:ahLst/>
            <a:cxnLst/>
            <a:rect l="l" t="t" r="r" b="b"/>
            <a:pathLst>
              <a:path w="2723231" h="3351669">
                <a:moveTo>
                  <a:pt x="0" y="0"/>
                </a:moveTo>
                <a:lnTo>
                  <a:pt x="2723231" y="0"/>
                </a:lnTo>
                <a:lnTo>
                  <a:pt x="2723231" y="3351669"/>
                </a:lnTo>
                <a:lnTo>
                  <a:pt x="0" y="3351669"/>
                </a:lnTo>
                <a:lnTo>
                  <a:pt x="0" y="0"/>
                </a:lnTo>
                <a:close/>
              </a:path>
            </a:pathLst>
          </a:custGeom>
          <a:blipFill>
            <a:blip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a:blipFill>
        </p:spPr>
      </p:sp>
      <p:sp>
        <p:nvSpPr>
          <p:cNvPr id="5" name="TextBox 5"/>
          <p:cNvSpPr txBox="1"/>
          <p:nvPr/>
        </p:nvSpPr>
        <p:spPr>
          <a:xfrm>
            <a:off x="2386100" y="4295148"/>
            <a:ext cx="7627747" cy="1787669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ct val="100000"/>
              </a:lnSpc>
              <a:spcBef>
                <a:spcPct val="0"/>
              </a:spcBef>
            </a:pPr>
            <a:r>
              <a:rPr lang="en-US" sz="2904" dirty="0">
                <a:solidFill>
                  <a:srgbClr val="1800AD"/>
                </a:solidFill>
                <a:latin typeface="Glacial Indifference"/>
                <a:ea typeface="Glacial Indifference"/>
                <a:cs typeface="Glacial Indifference"/>
                <a:sym typeface="Glacial Indifference"/>
              </a:rPr>
              <a:t>Link to the recording of the presentation:</a:t>
            </a:r>
          </a:p>
          <a:p>
            <a:pPr algn="ctr">
              <a:lnSpc>
                <a:spcPct val="100000"/>
              </a:lnSpc>
              <a:spcBef>
                <a:spcPct val="0"/>
              </a:spcBef>
            </a:pPr>
            <a:br>
              <a:rPr lang="en-US" sz="2904" dirty="0">
                <a:solidFill>
                  <a:srgbClr val="1800AD"/>
                </a:solidFill>
                <a:latin typeface="Glacial Indifference"/>
                <a:ea typeface="Glacial Indifference"/>
                <a:cs typeface="Glacial Indifference"/>
                <a:sym typeface="Glacial Indifference"/>
              </a:rPr>
            </a:br>
            <a:r>
              <a:rPr lang="en-US" sz="2904" dirty="0">
                <a:solidFill>
                  <a:srgbClr val="1800AD"/>
                </a:solidFill>
                <a:latin typeface="Glacial Indifference"/>
                <a:ea typeface="Glacial Indifference"/>
                <a:cs typeface="Glacial Indifference"/>
                <a:sym typeface="Glacial Indifference"/>
                <a:hlinkClick r:id="rId4"/>
              </a:rPr>
              <a:t>https://drive.google.com/file/d/1KT0PFxdLPlLKBa2sRnK_ZNCtgHeX_fSn/view?usp=drive_link</a:t>
            </a:r>
            <a:endParaRPr lang="en-US" sz="2904" dirty="0">
              <a:solidFill>
                <a:srgbClr val="1800AD"/>
              </a:solidFill>
              <a:latin typeface="Glacial Indifference"/>
              <a:ea typeface="Glacial Indifference"/>
              <a:cs typeface="Glacial Indifference"/>
              <a:sym typeface="Glacial Indifference"/>
            </a:endParaRPr>
          </a:p>
        </p:txBody>
      </p:sp>
      <p:sp>
        <p:nvSpPr>
          <p:cNvPr id="6" name="TextBox 6"/>
          <p:cNvSpPr txBox="1"/>
          <p:nvPr/>
        </p:nvSpPr>
        <p:spPr>
          <a:xfrm>
            <a:off x="2943643" y="2836488"/>
            <a:ext cx="6512661" cy="985266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7226"/>
              </a:lnSpc>
            </a:pPr>
            <a:r>
              <a:rPr lang="en-US" sz="7299">
                <a:solidFill>
                  <a:srgbClr val="1800AD"/>
                </a:solidFill>
                <a:latin typeface="Bobby Jones Soft"/>
                <a:ea typeface="Bobby Jones Soft"/>
                <a:cs typeface="Bobby Jones Soft"/>
                <a:sym typeface="Bobby Jones Soft"/>
              </a:rPr>
              <a:t>THANKYOU!</a:t>
            </a:r>
          </a:p>
        </p:txBody>
      </p:sp>
      <p:sp>
        <p:nvSpPr>
          <p:cNvPr id="7" name="Freeform 7"/>
          <p:cNvSpPr/>
          <p:nvPr/>
        </p:nvSpPr>
        <p:spPr>
          <a:xfrm>
            <a:off x="13116669" y="2604719"/>
            <a:ext cx="2434070" cy="2434070"/>
          </a:xfrm>
          <a:custGeom>
            <a:avLst/>
            <a:gdLst/>
            <a:ahLst/>
            <a:cxnLst/>
            <a:rect l="l" t="t" r="r" b="b"/>
            <a:pathLst>
              <a:path w="2434070" h="2434070">
                <a:moveTo>
                  <a:pt x="0" y="0"/>
                </a:moveTo>
                <a:lnTo>
                  <a:pt x="2434070" y="0"/>
                </a:lnTo>
                <a:lnTo>
                  <a:pt x="2434070" y="2434070"/>
                </a:lnTo>
                <a:lnTo>
                  <a:pt x="0" y="2434070"/>
                </a:lnTo>
                <a:lnTo>
                  <a:pt x="0" y="0"/>
                </a:lnTo>
                <a:close/>
              </a:path>
            </a:pathLst>
          </a:custGeom>
          <a:blipFill>
            <a:blip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/>
            </a:stretch>
          </a:blipFill>
        </p:spPr>
      </p:sp>
      <p:sp>
        <p:nvSpPr>
          <p:cNvPr id="8" name="TextBox 8"/>
          <p:cNvSpPr txBox="1"/>
          <p:nvPr/>
        </p:nvSpPr>
        <p:spPr>
          <a:xfrm>
            <a:off x="2386100" y="6518111"/>
            <a:ext cx="8002511" cy="92392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3604"/>
              </a:lnSpc>
              <a:spcBef>
                <a:spcPct val="0"/>
              </a:spcBef>
            </a:pPr>
            <a:r>
              <a:rPr lang="en-US" sz="3004" b="1" dirty="0">
                <a:solidFill>
                  <a:srgbClr val="1800AD"/>
                </a:solidFill>
                <a:latin typeface="Glacial Indifference Bold"/>
                <a:ea typeface="Glacial Indifference Bold"/>
                <a:cs typeface="Glacial Indifference Bold"/>
                <a:sym typeface="Glacial Indifference Bold"/>
              </a:rPr>
              <a:t>Queen Bella | Aman Gupta | Fatima Saifuddin | Abiodun Michael Ogunleye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2482</TotalTime>
  <Words>1059</Words>
  <Application>Microsoft Office PowerPoint</Application>
  <PresentationFormat>Custom</PresentationFormat>
  <Paragraphs>83</Paragraphs>
  <Slides>11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5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11</vt:i4>
      </vt:variant>
    </vt:vector>
  </HeadingPairs>
  <TitlesOfParts>
    <vt:vector size="17" baseType="lpstr">
      <vt:lpstr>Calibri</vt:lpstr>
      <vt:lpstr>Arial</vt:lpstr>
      <vt:lpstr>Glacial Indifference</vt:lpstr>
      <vt:lpstr>Glacial Indifference Bold</vt:lpstr>
      <vt:lpstr>Bobby Jones Soft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Team 1 </dc:title>
  <cp:lastModifiedBy>Fatima</cp:lastModifiedBy>
  <cp:revision>2</cp:revision>
  <dcterms:created xsi:type="dcterms:W3CDTF">2006-08-16T00:00:00Z</dcterms:created>
  <dcterms:modified xsi:type="dcterms:W3CDTF">2026-08-30T05:31:30Z</dcterms:modified>
  <dc:identifier>DAHTNNIdoLk</dc:identifier>
</cp:coreProperties>
</file>